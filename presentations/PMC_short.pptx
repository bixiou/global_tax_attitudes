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75" r:id="rId2"/>
    <p:sldId id="257" r:id="rId3"/>
    <p:sldId id="258" r:id="rId4"/>
    <p:sldId id="260" r:id="rId5"/>
    <p:sldId id="290" r:id="rId6"/>
    <p:sldId id="291" r:id="rId7"/>
    <p:sldId id="278" r:id="rId8"/>
    <p:sldId id="297" r:id="rId9"/>
    <p:sldId id="298" r:id="rId10"/>
    <p:sldId id="299" r:id="rId11"/>
    <p:sldId id="296" r:id="rId12"/>
    <p:sldId id="282" r:id="rId13"/>
    <p:sldId id="283" r:id="rId14"/>
    <p:sldId id="308" r:id="rId15"/>
    <p:sldId id="303" r:id="rId16"/>
    <p:sldId id="307" r:id="rId17"/>
    <p:sldId id="305" r:id="rId18"/>
    <p:sldId id="306" r:id="rId19"/>
    <p:sldId id="271" r:id="rId20"/>
    <p:sldId id="270" r:id="rId21"/>
    <p:sldId id="267" r:id="rId22"/>
    <p:sldId id="287" r:id="rId23"/>
    <p:sldId id="288" r:id="rId24"/>
    <p:sldId id="286" r:id="rId25"/>
    <p:sldId id="284" r:id="rId26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964BE-3B2F-48C7-8207-A5C87EFFB1F5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BCF3E-4D51-499C-9CA4-AAB02DEB207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39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15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7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42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72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39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36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25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36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77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28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97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31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27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05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03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3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91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51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33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23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449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59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47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765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BCF3E-4D51-499C-9CA4-AAB02DEB20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75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image" Target="../media/image10.pn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7930" y="419620"/>
            <a:ext cx="9515475" cy="1320800"/>
          </a:xfrm>
        </p:spPr>
        <p:txBody>
          <a:bodyPr/>
          <a:lstStyle/>
          <a:p>
            <a:r>
              <a:rPr lang="fr-FR" dirty="0" smtClean="0"/>
              <a:t>Les pays à hauts revenus 100 fois plus riches que les pays à bas revenus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523" y="1902345"/>
            <a:ext cx="5260290" cy="427672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953559" y="6264794"/>
            <a:ext cx="9382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PIB par habitant ajusté au coût de la vie (par rapport à la moyenne mondiale, 2022)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0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410095"/>
            <a:ext cx="8596668" cy="1320800"/>
          </a:xfrm>
        </p:spPr>
        <p:txBody>
          <a:bodyPr/>
          <a:lstStyle/>
          <a:p>
            <a:r>
              <a:rPr lang="fr-FR" dirty="0" smtClean="0"/>
              <a:t>Les négociations climat dans l’impasse…</a:t>
            </a:r>
            <a:endParaRPr lang="en-US" dirty="0"/>
          </a:p>
        </p:txBody>
      </p:sp>
      <p:pic>
        <p:nvPicPr>
          <p:cNvPr id="1026" name="Picture 2" descr="cop-28_5-finances-def-h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1423324"/>
            <a:ext cx="5004262" cy="500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2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514416" cy="1320800"/>
          </a:xfrm>
        </p:spPr>
        <p:txBody>
          <a:bodyPr/>
          <a:lstStyle/>
          <a:p>
            <a:r>
              <a:rPr lang="fr-FR" dirty="0" smtClean="0"/>
              <a:t>… Malgré un fort soutien à une </a:t>
            </a:r>
            <a:br>
              <a:rPr lang="fr-FR" dirty="0" smtClean="0"/>
            </a:br>
            <a:r>
              <a:rPr lang="fr-FR" dirty="0" smtClean="0"/>
              <a:t>politique climatique à l’échelle mondiale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4808"/>
            <a:ext cx="12192000" cy="3666583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133005" y="4015047"/>
            <a:ext cx="11762508" cy="3740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5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3425"/>
          </a:xfrm>
        </p:spPr>
        <p:txBody>
          <a:bodyPr/>
          <a:lstStyle/>
          <a:p>
            <a:r>
              <a:rPr lang="fr-FR" dirty="0" smtClean="0"/>
              <a:t>Un Plan Mondial pour le Climat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57350"/>
            <a:ext cx="8596668" cy="47625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fr-FR" sz="3200" dirty="0" smtClean="0"/>
              <a:t>Plafonnement des émissions</a:t>
            </a:r>
            <a:br>
              <a:rPr lang="fr-FR" sz="3200" dirty="0" smtClean="0"/>
            </a:br>
            <a:r>
              <a:rPr lang="fr-FR" sz="3200" dirty="0" smtClean="0"/>
              <a:t>	</a:t>
            </a:r>
            <a:r>
              <a:rPr lang="fr-FR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r>
              <a:rPr lang="fr-FR" sz="2000" dirty="0" smtClean="0"/>
              <a:t> Émissions décroissant en conformité avec le budget carbone</a:t>
            </a:r>
            <a:br>
              <a:rPr lang="fr-FR" sz="2000" dirty="0" smtClean="0"/>
            </a:br>
            <a:endParaRPr lang="fr-FR" sz="3200" dirty="0" smtClean="0"/>
          </a:p>
        </p:txBody>
      </p:sp>
    </p:spTree>
    <p:extLst>
      <p:ext uri="{BB962C8B-B14F-4D97-AF65-F5344CB8AC3E}">
        <p14:creationId xmlns:p14="http://schemas.microsoft.com/office/powerpoint/2010/main" val="672216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3425"/>
          </a:xfrm>
        </p:spPr>
        <p:txBody>
          <a:bodyPr/>
          <a:lstStyle/>
          <a:p>
            <a:r>
              <a:rPr lang="fr-FR" dirty="0" smtClean="0"/>
              <a:t>Un Plan Mondial pour le Climat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57350"/>
            <a:ext cx="8596668" cy="47625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fr-FR" sz="3200" dirty="0" smtClean="0"/>
              <a:t>Plafonnement des émissions</a:t>
            </a:r>
            <a:br>
              <a:rPr lang="fr-FR" sz="3200" dirty="0" smtClean="0"/>
            </a:br>
            <a:r>
              <a:rPr lang="fr-FR" sz="3200" dirty="0" smtClean="0"/>
              <a:t>	</a:t>
            </a:r>
            <a:r>
              <a:rPr lang="fr-FR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r>
              <a:rPr lang="fr-FR" sz="2000" dirty="0" smtClean="0"/>
              <a:t> Émissions décroissant en conformité avec le budget carbone</a:t>
            </a:r>
            <a:br>
              <a:rPr lang="fr-FR" sz="2000" dirty="0" smtClean="0"/>
            </a:br>
            <a:endParaRPr lang="fr-FR" sz="3200" dirty="0" smtClean="0"/>
          </a:p>
          <a:p>
            <a:pPr>
              <a:buFont typeface="+mj-lt"/>
              <a:buAutoNum type="arabicPeriod"/>
            </a:pPr>
            <a:r>
              <a:rPr lang="fr-FR" sz="3200" dirty="0" smtClean="0"/>
              <a:t>Principe pollueur – payeur</a:t>
            </a:r>
            <a:br>
              <a:rPr lang="fr-FR" sz="3200" dirty="0" smtClean="0"/>
            </a:br>
            <a:r>
              <a:rPr lang="fr-FR" sz="3200" dirty="0" smtClean="0"/>
              <a:t>	</a:t>
            </a:r>
            <a:r>
              <a:rPr lang="fr-FR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► </a:t>
            </a:r>
            <a:r>
              <a:rPr lang="fr-FR" sz="2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Régulation des entreprises à la source des émissions</a:t>
            </a:r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 smtClean="0"/>
          </a:p>
        </p:txBody>
      </p:sp>
    </p:spTree>
    <p:extLst>
      <p:ext uri="{BB962C8B-B14F-4D97-AF65-F5344CB8AC3E}">
        <p14:creationId xmlns:p14="http://schemas.microsoft.com/office/powerpoint/2010/main" val="1950418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3425"/>
          </a:xfrm>
        </p:spPr>
        <p:txBody>
          <a:bodyPr/>
          <a:lstStyle/>
          <a:p>
            <a:r>
              <a:rPr lang="fr-FR" dirty="0" smtClean="0"/>
              <a:t>Un Plan Mondial pour le Climat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657350"/>
            <a:ext cx="8596668" cy="47625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fr-FR" sz="3200" dirty="0" smtClean="0"/>
              <a:t>Plafonnement des émissions</a:t>
            </a:r>
            <a:br>
              <a:rPr lang="fr-FR" sz="3200" dirty="0" smtClean="0"/>
            </a:br>
            <a:r>
              <a:rPr lang="fr-FR" sz="3200" dirty="0" smtClean="0"/>
              <a:t>	</a:t>
            </a:r>
            <a:r>
              <a:rPr lang="fr-FR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r>
              <a:rPr lang="fr-FR" sz="2000" dirty="0" smtClean="0"/>
              <a:t> Émissions décroissant en conformité avec le budget carbone</a:t>
            </a:r>
            <a:br>
              <a:rPr lang="fr-FR" sz="2000" dirty="0" smtClean="0"/>
            </a:br>
            <a:endParaRPr lang="fr-FR" sz="3200" dirty="0" smtClean="0"/>
          </a:p>
          <a:p>
            <a:pPr>
              <a:buFont typeface="+mj-lt"/>
              <a:buAutoNum type="arabicPeriod"/>
            </a:pPr>
            <a:r>
              <a:rPr lang="fr-FR" sz="3200" dirty="0" smtClean="0"/>
              <a:t>Principe pollueur – payeur</a:t>
            </a:r>
            <a:br>
              <a:rPr lang="fr-FR" sz="3200" dirty="0" smtClean="0"/>
            </a:br>
            <a:r>
              <a:rPr lang="fr-FR" sz="3200" dirty="0" smtClean="0"/>
              <a:t>	</a:t>
            </a:r>
            <a:r>
              <a:rPr lang="fr-FR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► </a:t>
            </a:r>
            <a:r>
              <a:rPr lang="fr-FR" sz="2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Régulation des entreprises à la source des émissions</a:t>
            </a:r>
            <a:r>
              <a:rPr lang="fr-FR" sz="3200" dirty="0" smtClean="0"/>
              <a:t/>
            </a:r>
            <a:br>
              <a:rPr lang="fr-FR" sz="3200" dirty="0" smtClean="0"/>
            </a:br>
            <a:endParaRPr lang="fr-FR" sz="3200" dirty="0" smtClean="0"/>
          </a:p>
          <a:p>
            <a:pPr>
              <a:buFont typeface="+mj-lt"/>
              <a:buAutoNum type="arabicPeriod"/>
            </a:pPr>
            <a:r>
              <a:rPr lang="fr-FR" sz="3200" dirty="0" smtClean="0"/>
              <a:t>Partage égalitaire </a:t>
            </a:r>
            <a:r>
              <a:rPr lang="fr-FR" sz="3200" smtClean="0"/>
              <a:t>des recettes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fr-FR" sz="3200" dirty="0" smtClean="0"/>
              <a:t>	</a:t>
            </a:r>
            <a:r>
              <a:rPr lang="fr-FR" sz="20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► </a:t>
            </a:r>
            <a:r>
              <a:rPr lang="fr-FR" sz="2000" dirty="0" smtClean="0"/>
              <a:t>Revenu de base de 50€/mois qui éradique l’extrême pauvreté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13113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5217" y="983090"/>
            <a:ext cx="9558866" cy="4872963"/>
          </a:xfrm>
        </p:spPr>
        <p:txBody>
          <a:bodyPr/>
          <a:lstStyle/>
          <a:p>
            <a:r>
              <a:rPr lang="fr-FR" dirty="0" smtClean="0"/>
              <a:t>Une « union écologique » de pays ambitieux.</a:t>
            </a:r>
          </a:p>
          <a:p>
            <a:endParaRPr lang="en-US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-76200" y="78421"/>
            <a:ext cx="9925050" cy="1320800"/>
          </a:xfrm>
        </p:spPr>
        <p:txBody>
          <a:bodyPr/>
          <a:lstStyle/>
          <a:p>
            <a:r>
              <a:rPr lang="fr-FR" dirty="0" smtClean="0"/>
              <a:t>   Une Union Soutenable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23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5217" y="983090"/>
            <a:ext cx="9558866" cy="4872963"/>
          </a:xfrm>
        </p:spPr>
        <p:txBody>
          <a:bodyPr/>
          <a:lstStyle/>
          <a:p>
            <a:r>
              <a:rPr lang="fr-FR" dirty="0" smtClean="0"/>
              <a:t>Une « union écologique » de pays ambitieux.</a:t>
            </a:r>
          </a:p>
          <a:p>
            <a:r>
              <a:rPr lang="fr-FR" dirty="0" smtClean="0"/>
              <a:t>Un prix mondial du carbone, de nouvelles taxes sur les plus riches.</a:t>
            </a:r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9488"/>
            <a:ext cx="10909300" cy="161574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384300" y="3330156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Recettes estimées de nouvelles </a:t>
            </a:r>
            <a:r>
              <a:rPr lang="fr-FR" dirty="0"/>
              <a:t>taxes mondiales (en milliards de dollars par an).</a:t>
            </a:r>
            <a:endParaRPr lang="en-US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-76200" y="78421"/>
            <a:ext cx="9925050" cy="1320800"/>
          </a:xfrm>
        </p:spPr>
        <p:txBody>
          <a:bodyPr/>
          <a:lstStyle/>
          <a:p>
            <a:r>
              <a:rPr lang="fr-FR" dirty="0" smtClean="0"/>
              <a:t>Une vision partagée vers la justice climatique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5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5217" y="983090"/>
            <a:ext cx="9558866" cy="4872963"/>
          </a:xfrm>
        </p:spPr>
        <p:txBody>
          <a:bodyPr/>
          <a:lstStyle/>
          <a:p>
            <a:r>
              <a:rPr lang="fr-FR" dirty="0" smtClean="0"/>
              <a:t>Une « union écologique » de pays ambitieux.</a:t>
            </a:r>
          </a:p>
          <a:p>
            <a:r>
              <a:rPr lang="fr-FR" dirty="0" smtClean="0"/>
              <a:t>Un prix mondial du carbone, de nouvelles taxes sur les plus riches.</a:t>
            </a:r>
          </a:p>
          <a:p>
            <a:r>
              <a:rPr lang="fr-FR" dirty="0" smtClean="0"/>
              <a:t>Les nouvelles taxes collectent 3-4% du </a:t>
            </a:r>
            <a:r>
              <a:rPr lang="fr-FR" dirty="0"/>
              <a:t>PIB</a:t>
            </a:r>
            <a:r>
              <a:rPr lang="fr-FR" dirty="0" smtClean="0"/>
              <a:t> mondial.</a:t>
            </a:r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9488"/>
            <a:ext cx="10909300" cy="161574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384300" y="3330156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Recettes estimées de nouvelles </a:t>
            </a:r>
            <a:r>
              <a:rPr lang="fr-FR" dirty="0"/>
              <a:t>taxes mondiales (en milliards de dollars par an).</a:t>
            </a:r>
            <a:endParaRPr lang="en-US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-76200" y="78421"/>
            <a:ext cx="9925050" cy="1320800"/>
          </a:xfrm>
        </p:spPr>
        <p:txBody>
          <a:bodyPr/>
          <a:lstStyle/>
          <a:p>
            <a:r>
              <a:rPr lang="fr-FR" dirty="0" smtClean="0"/>
              <a:t>Une vision partagée vers la justice climatique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34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5217" y="983090"/>
            <a:ext cx="9558866" cy="4872963"/>
          </a:xfrm>
        </p:spPr>
        <p:txBody>
          <a:bodyPr/>
          <a:lstStyle/>
          <a:p>
            <a:r>
              <a:rPr lang="fr-FR" dirty="0" smtClean="0"/>
              <a:t>Une « union écologique » de pays ambitieux.</a:t>
            </a:r>
          </a:p>
          <a:p>
            <a:r>
              <a:rPr lang="fr-FR" dirty="0" smtClean="0"/>
              <a:t>Un prix mondial du carbone, de nouvelles taxes sur les plus riches.</a:t>
            </a:r>
          </a:p>
          <a:p>
            <a:r>
              <a:rPr lang="fr-FR" dirty="0" smtClean="0"/>
              <a:t>Les nouvelles taxes collectent 3-4% du </a:t>
            </a:r>
            <a:r>
              <a:rPr lang="fr-FR" dirty="0"/>
              <a:t>PIB</a:t>
            </a:r>
            <a:r>
              <a:rPr lang="fr-FR" dirty="0" smtClean="0"/>
              <a:t> mondial.</a:t>
            </a:r>
          </a:p>
          <a:p>
            <a:r>
              <a:rPr lang="fr-FR" dirty="0" smtClean="0"/>
              <a:t>Chaque pays contribue 1% de son PIB.</a:t>
            </a:r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9488"/>
            <a:ext cx="10909300" cy="161574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384300" y="3330156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Recettes estimées de nouvelles </a:t>
            </a:r>
            <a:r>
              <a:rPr lang="fr-FR" dirty="0"/>
              <a:t>taxes mondiales (en milliards de dollars par an).</a:t>
            </a:r>
            <a:endParaRPr lang="en-US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-76200" y="78421"/>
            <a:ext cx="9925050" cy="1320800"/>
          </a:xfrm>
        </p:spPr>
        <p:txBody>
          <a:bodyPr/>
          <a:lstStyle/>
          <a:p>
            <a:r>
              <a:rPr lang="fr-FR" dirty="0" smtClean="0"/>
              <a:t>Une vision partagée vers la justice climatique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888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5217" y="983090"/>
            <a:ext cx="9558866" cy="4872963"/>
          </a:xfrm>
        </p:spPr>
        <p:txBody>
          <a:bodyPr/>
          <a:lstStyle/>
          <a:p>
            <a:r>
              <a:rPr lang="fr-FR" dirty="0" smtClean="0"/>
              <a:t>Une « union écologique » de pays ambitieux.</a:t>
            </a:r>
          </a:p>
          <a:p>
            <a:r>
              <a:rPr lang="fr-FR" dirty="0" smtClean="0"/>
              <a:t>Un prix mondial du carbone, de nouvelles taxes sur les plus riches.</a:t>
            </a:r>
          </a:p>
          <a:p>
            <a:r>
              <a:rPr lang="fr-FR" dirty="0" smtClean="0"/>
              <a:t>Les nouvelles taxes collectent 3-4% du </a:t>
            </a:r>
            <a:r>
              <a:rPr lang="fr-FR" dirty="0"/>
              <a:t>PIB</a:t>
            </a:r>
            <a:r>
              <a:rPr lang="fr-FR" dirty="0" smtClean="0"/>
              <a:t> mondial.</a:t>
            </a:r>
          </a:p>
          <a:p>
            <a:r>
              <a:rPr lang="fr-FR" dirty="0" smtClean="0"/>
              <a:t>Chaque pays contribue 1% de son PIB.</a:t>
            </a:r>
          </a:p>
          <a:p>
            <a:r>
              <a:rPr lang="fr-FR" dirty="0" smtClean="0"/>
              <a:t>Les contributions sont réparties proportionnellement à la population des pays.</a:t>
            </a:r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9488"/>
            <a:ext cx="10909300" cy="161574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384300" y="3330156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Recettes estimées de nouvelles </a:t>
            </a:r>
            <a:r>
              <a:rPr lang="fr-FR" dirty="0"/>
              <a:t>taxes mondiales (en milliards de dollars par an).</a:t>
            </a:r>
            <a:endParaRPr lang="en-US" dirty="0"/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-76200" y="78421"/>
            <a:ext cx="9925050" cy="1320800"/>
          </a:xfrm>
        </p:spPr>
        <p:txBody>
          <a:bodyPr/>
          <a:lstStyle/>
          <a:p>
            <a:r>
              <a:rPr lang="fr-FR" dirty="0" smtClean="0"/>
              <a:t>Une vision partagée vers la justice climatique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77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76200" y="78421"/>
            <a:ext cx="9925050" cy="1320800"/>
          </a:xfrm>
        </p:spPr>
        <p:txBody>
          <a:bodyPr/>
          <a:lstStyle/>
          <a:p>
            <a:r>
              <a:rPr lang="fr-FR" dirty="0" smtClean="0"/>
              <a:t>Une vision partagée vers la justice climatique</a:t>
            </a:r>
            <a:endParaRPr lang="en-US" dirty="0"/>
          </a:p>
        </p:txBody>
      </p:sp>
      <p:sp>
        <p:nvSpPr>
          <p:cNvPr id="5" name="ZoneTexte 4"/>
          <p:cNvSpPr txBox="1"/>
          <p:nvPr/>
        </p:nvSpPr>
        <p:spPr>
          <a:xfrm>
            <a:off x="914400" y="1056856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Recettes estimées de nouvelles </a:t>
            </a:r>
            <a:r>
              <a:rPr lang="fr-FR" dirty="0"/>
              <a:t>taxes mondiales (en milliards de dollars par an).</a:t>
            </a: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" y="738821"/>
            <a:ext cx="12185549" cy="6119179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3352799" y="6038850"/>
            <a:ext cx="7543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Transferts </a:t>
            </a:r>
            <a:r>
              <a:rPr lang="fr-FR" b="1" dirty="0"/>
              <a:t>internationaux </a:t>
            </a:r>
            <a:r>
              <a:rPr lang="fr-FR" dirty="0" smtClean="0"/>
              <a:t>financés </a:t>
            </a:r>
            <a:r>
              <a:rPr lang="fr-FR" dirty="0"/>
              <a:t>par de nouvelles taxes mondiales</a:t>
            </a:r>
            <a:r>
              <a:rPr lang="fr-FR" dirty="0" smtClean="0"/>
              <a:t>.</a:t>
            </a:r>
          </a:p>
          <a:p>
            <a:pPr algn="ctr"/>
            <a:r>
              <a:rPr lang="fr-FR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smtClean="0"/>
              <a:t>766 Mds $/an en transferts Nord-Sud.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64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76200" y="78421"/>
            <a:ext cx="9925050" cy="1320800"/>
          </a:xfrm>
        </p:spPr>
        <p:txBody>
          <a:bodyPr/>
          <a:lstStyle/>
          <a:p>
            <a:r>
              <a:rPr lang="fr-FR" dirty="0" smtClean="0"/>
              <a:t>Une vision partagée vers la justice climatique</a:t>
            </a:r>
            <a:endParaRPr lang="en-US" dirty="0"/>
          </a:p>
        </p:txBody>
      </p:sp>
      <p:sp>
        <p:nvSpPr>
          <p:cNvPr id="5" name="ZoneTexte 4"/>
          <p:cNvSpPr txBox="1"/>
          <p:nvPr/>
        </p:nvSpPr>
        <p:spPr>
          <a:xfrm>
            <a:off x="914400" y="1056856"/>
            <a:ext cx="112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Recettes estimées de nouvelles </a:t>
            </a:r>
            <a:r>
              <a:rPr lang="fr-FR" dirty="0"/>
              <a:t>taxes mondiales (en milliards de dollars par an).</a:t>
            </a: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" y="738821"/>
            <a:ext cx="12178949" cy="6119179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352799" y="6038850"/>
            <a:ext cx="7543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Gain </a:t>
            </a:r>
            <a:r>
              <a:rPr lang="fr-FR" b="1" dirty="0" smtClean="0"/>
              <a:t>pour </a:t>
            </a:r>
            <a:r>
              <a:rPr lang="fr-FR" b="1" dirty="0"/>
              <a:t>les budgets des États </a:t>
            </a:r>
            <a:r>
              <a:rPr lang="fr-FR" dirty="0" smtClean="0"/>
              <a:t>de </a:t>
            </a:r>
            <a:r>
              <a:rPr lang="fr-FR" dirty="0"/>
              <a:t>nouvelles taxes et </a:t>
            </a:r>
            <a:r>
              <a:rPr lang="fr-FR" dirty="0" smtClean="0"/>
              <a:t>transferts nets. </a:t>
            </a:r>
          </a:p>
          <a:p>
            <a:pPr algn="ctr"/>
            <a:r>
              <a:rPr lang="fr-FR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smtClean="0"/>
              <a:t>Tous les États profitent d’un gain budgétaire.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304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la redistribution mondiale </a:t>
            </a:r>
            <a:br>
              <a:rPr lang="fr-FR" dirty="0" smtClean="0"/>
            </a:br>
            <a:r>
              <a:rPr lang="fr-FR" dirty="0" smtClean="0"/>
              <a:t>est-elle absente du débat public 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accent5"/>
                </a:solidFill>
              </a:rPr>
              <a:t> </a:t>
            </a:r>
            <a:r>
              <a:rPr lang="en-US" sz="2400" b="1" dirty="0" smtClean="0">
                <a:solidFill>
                  <a:schemeClr val="accent5"/>
                </a:solidFill>
              </a:rPr>
              <a:t> </a:t>
            </a:r>
            <a:r>
              <a:rPr lang="en-US" sz="2400" dirty="0" smtClean="0"/>
              <a:t>  </a:t>
            </a:r>
            <a:r>
              <a:rPr lang="fr-FR" sz="2400" dirty="0" smtClean="0"/>
              <a:t>Absence de soutien dans la population </a:t>
            </a:r>
            <a:r>
              <a:rPr lang="fr-FR" sz="2400" dirty="0" smtClean="0"/>
              <a:t>?</a:t>
            </a:r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2877727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la redistribution mondiale </a:t>
            </a:r>
            <a:br>
              <a:rPr lang="fr-FR" dirty="0" smtClean="0"/>
            </a:br>
            <a:r>
              <a:rPr lang="fr-FR" dirty="0" smtClean="0"/>
              <a:t>est-elle absente du débat public ?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0400"/>
            <a:ext cx="12192000" cy="361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7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la redistribution mondiale </a:t>
            </a:r>
            <a:br>
              <a:rPr lang="fr-FR" dirty="0" smtClean="0"/>
            </a:br>
            <a:r>
              <a:rPr lang="fr-FR" dirty="0" smtClean="0"/>
              <a:t>est-elle absente du débat public 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 smtClean="0">
                <a:solidFill>
                  <a:schemeClr val="accent5"/>
                </a:solidFill>
              </a:rPr>
              <a:t>✗</a:t>
            </a:r>
            <a:r>
              <a:rPr lang="en-US" sz="2400" dirty="0" smtClean="0"/>
              <a:t>  </a:t>
            </a:r>
            <a:r>
              <a:rPr lang="fr-FR" sz="2400" strike="sngStrike" dirty="0" smtClean="0"/>
              <a:t>Absence de soutien dans la population </a:t>
            </a:r>
            <a:r>
              <a:rPr lang="fr-FR" sz="2400" strike="sngStrike" dirty="0" smtClean="0"/>
              <a:t>?</a:t>
            </a:r>
            <a:endParaRPr lang="fr-FR" sz="2400" strike="sngStrike" dirty="0" smtClean="0"/>
          </a:p>
        </p:txBody>
      </p:sp>
    </p:spTree>
    <p:extLst>
      <p:ext uri="{BB962C8B-B14F-4D97-AF65-F5344CB8AC3E}">
        <p14:creationId xmlns:p14="http://schemas.microsoft.com/office/powerpoint/2010/main" val="3909709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la redistribution mondiale </a:t>
            </a:r>
            <a:br>
              <a:rPr lang="fr-FR" dirty="0" smtClean="0"/>
            </a:br>
            <a:r>
              <a:rPr lang="fr-FR" dirty="0" smtClean="0"/>
              <a:t>est-elle absente du débat public 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 smtClean="0">
                <a:solidFill>
                  <a:schemeClr val="accent5"/>
                </a:solidFill>
              </a:rPr>
              <a:t>✗</a:t>
            </a:r>
            <a:r>
              <a:rPr lang="en-US" sz="2400" dirty="0" smtClean="0"/>
              <a:t>  </a:t>
            </a:r>
            <a:r>
              <a:rPr lang="fr-FR" sz="2400" strike="sngStrike" dirty="0" smtClean="0"/>
              <a:t>Absence de soutien dans la population ?</a:t>
            </a:r>
          </a:p>
          <a:p>
            <a:pPr>
              <a:spcAft>
                <a:spcPts val="600"/>
              </a:spcAft>
            </a:pPr>
            <a:r>
              <a:rPr lang="fr-FR" sz="2400" dirty="0" smtClean="0"/>
              <a:t>Biais </a:t>
            </a:r>
            <a:r>
              <a:rPr lang="fr-FR" sz="2400" dirty="0" smtClean="0"/>
              <a:t>nationaliste dans la réflexion politique ?</a:t>
            </a:r>
          </a:p>
        </p:txBody>
      </p:sp>
    </p:spTree>
    <p:extLst>
      <p:ext uri="{BB962C8B-B14F-4D97-AF65-F5344CB8AC3E}">
        <p14:creationId xmlns:p14="http://schemas.microsoft.com/office/powerpoint/2010/main" val="551019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la redistribution mondiale </a:t>
            </a:r>
            <a:br>
              <a:rPr lang="fr-FR" dirty="0" smtClean="0"/>
            </a:br>
            <a:r>
              <a:rPr lang="fr-FR" dirty="0" smtClean="0"/>
              <a:t>est-elle absente du débat public 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 smtClean="0">
                <a:solidFill>
                  <a:schemeClr val="accent5"/>
                </a:solidFill>
              </a:rPr>
              <a:t>✗</a:t>
            </a:r>
            <a:r>
              <a:rPr lang="en-US" sz="2400" dirty="0" smtClean="0"/>
              <a:t>  </a:t>
            </a:r>
            <a:r>
              <a:rPr lang="fr-FR" sz="2400" strike="sngStrike" dirty="0" smtClean="0"/>
              <a:t>Absence de soutien dans la population ?</a:t>
            </a:r>
          </a:p>
          <a:p>
            <a:pPr>
              <a:spcAft>
                <a:spcPts val="600"/>
              </a:spcAft>
            </a:pPr>
            <a:r>
              <a:rPr lang="fr-FR" sz="2400" dirty="0" smtClean="0"/>
              <a:t>Biais </a:t>
            </a:r>
            <a:r>
              <a:rPr lang="fr-FR" sz="2400" dirty="0" smtClean="0"/>
              <a:t>nationaliste dans la réflexion et le débat politiques ?</a:t>
            </a:r>
          </a:p>
          <a:p>
            <a:pPr>
              <a:spcAft>
                <a:spcPts val="600"/>
              </a:spcAft>
            </a:pPr>
            <a:r>
              <a:rPr lang="fr-FR" sz="2400" dirty="0" smtClean="0"/>
              <a:t>Manque de propositions détaillées et de plaidoyer ?</a:t>
            </a:r>
          </a:p>
        </p:txBody>
      </p:sp>
    </p:spTree>
    <p:extLst>
      <p:ext uri="{BB962C8B-B14F-4D97-AF65-F5344CB8AC3E}">
        <p14:creationId xmlns:p14="http://schemas.microsoft.com/office/powerpoint/2010/main" val="766473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la redistribution mondiale </a:t>
            </a:r>
            <a:br>
              <a:rPr lang="fr-FR" dirty="0" smtClean="0"/>
            </a:br>
            <a:r>
              <a:rPr lang="fr-FR" dirty="0" smtClean="0"/>
              <a:t>est-elle absente du débat public ?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034" y="2204172"/>
            <a:ext cx="7792537" cy="1000265"/>
          </a:xfrm>
        </p:spPr>
      </p:pic>
      <p:sp>
        <p:nvSpPr>
          <p:cNvPr id="6" name="ZoneTexte 5"/>
          <p:cNvSpPr txBox="1"/>
          <p:nvPr/>
        </p:nvSpPr>
        <p:spPr>
          <a:xfrm>
            <a:off x="677334" y="2473473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1"/>
                </a:solidFill>
              </a:rPr>
              <a:t>►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773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la redistribution mondiale </a:t>
            </a:r>
            <a:br>
              <a:rPr lang="fr-FR" dirty="0" smtClean="0"/>
            </a:br>
            <a:r>
              <a:rPr lang="fr-FR" dirty="0" smtClean="0"/>
              <a:t>est-elle absente du débat public ?</a:t>
            </a:r>
            <a:endParaRPr lang="en-US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034" y="2204172"/>
            <a:ext cx="7792537" cy="1000265"/>
          </a:xfr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22" y="3478213"/>
            <a:ext cx="7800949" cy="204775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677334" y="2473473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accent1"/>
                </a:solidFill>
              </a:rPr>
              <a:t>►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72863" y="5630306"/>
            <a:ext cx="10137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Propositions soutenues par 20 listes </a:t>
            </a:r>
            <a:r>
              <a:rPr lang="fr-FR" sz="2000" b="1" dirty="0">
                <a:latin typeface="Calibri" panose="020F0502020204030204" pitchFamily="34" charset="0"/>
                <a:cs typeface="Calibri" panose="020F0502020204030204" pitchFamily="34" charset="0"/>
              </a:rPr>
              <a:t>de 10 pays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aux élections européennes et des ONG, dont :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La France insoumise — Wikipéd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014" y="6134760"/>
            <a:ext cx="1125445" cy="54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ge d'accueil - Les élu⋅es écologistes de Montpelli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38" y="5525963"/>
            <a:ext cx="2378139" cy="168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naissance (parti) — Wikipédi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747" y="6111335"/>
            <a:ext cx="591566" cy="58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OXFAM international | Note Praxi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851" y="5912277"/>
            <a:ext cx="1069548" cy="1069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e que plaident les quatre motions du Parti socialiste pour les  collectivités locale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601" y="6055395"/>
            <a:ext cx="932180" cy="62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350.org - France (@350France) / X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422" y="6111336"/>
            <a:ext cx="622204" cy="62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TTAC - CNAJEP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937" y="6069038"/>
            <a:ext cx="417553" cy="68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Ecolo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262" y="6089119"/>
            <a:ext cx="611153" cy="61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491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 faire </a:t>
            </a:r>
            <a:r>
              <a:rPr lang="fr-FR" dirty="0"/>
              <a:t>pour la justice </a:t>
            </a:r>
            <a:r>
              <a:rPr lang="fr-FR" dirty="0" smtClean="0"/>
              <a:t>climatique 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4908" y="2265364"/>
            <a:ext cx="9809692" cy="3880773"/>
          </a:xfrm>
        </p:spPr>
        <p:txBody>
          <a:bodyPr/>
          <a:lstStyle/>
          <a:p>
            <a:r>
              <a:rPr lang="fr-FR" sz="2800" dirty="0" smtClean="0"/>
              <a:t>Une campagne de sensibilisation ?</a:t>
            </a:r>
          </a:p>
          <a:p>
            <a:pPr marL="0" indent="0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426822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 faire </a:t>
            </a:r>
            <a:r>
              <a:rPr lang="fr-FR" dirty="0"/>
              <a:t>pour la justice </a:t>
            </a:r>
            <a:r>
              <a:rPr lang="fr-FR" dirty="0" smtClean="0"/>
              <a:t>climatique 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4908" y="2265364"/>
            <a:ext cx="9809692" cy="3880773"/>
          </a:xfrm>
        </p:spPr>
        <p:txBody>
          <a:bodyPr/>
          <a:lstStyle/>
          <a:p>
            <a:r>
              <a:rPr lang="fr-FR" sz="2800" dirty="0" smtClean="0"/>
              <a:t>Une campagne de sensibilisation ?</a:t>
            </a:r>
          </a:p>
          <a:p>
            <a:endParaRPr lang="fr-FR" sz="2800" dirty="0"/>
          </a:p>
          <a:p>
            <a:r>
              <a:rPr lang="fr-FR" sz="2800" dirty="0" smtClean="0"/>
              <a:t>Une coalition internationale de pays, partis et collectifs ?</a:t>
            </a:r>
            <a:br>
              <a:rPr lang="fr-FR" sz="2800" dirty="0" smtClean="0"/>
            </a:br>
            <a:endParaRPr lang="fr-FR" sz="2800" dirty="0" smtClean="0"/>
          </a:p>
          <a:p>
            <a:pPr marL="0" indent="0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685712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 faire </a:t>
            </a:r>
            <a:r>
              <a:rPr lang="fr-FR" dirty="0"/>
              <a:t>pour la justice </a:t>
            </a:r>
            <a:r>
              <a:rPr lang="fr-FR" dirty="0" smtClean="0"/>
              <a:t>climatique ?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4908" y="2265364"/>
            <a:ext cx="9809692" cy="3880773"/>
          </a:xfrm>
        </p:spPr>
        <p:txBody>
          <a:bodyPr/>
          <a:lstStyle/>
          <a:p>
            <a:r>
              <a:rPr lang="fr-FR" sz="2800" dirty="0" smtClean="0"/>
              <a:t>Une campagne de sensibilisation ?</a:t>
            </a:r>
          </a:p>
          <a:p>
            <a:endParaRPr lang="fr-FR" sz="2800" dirty="0"/>
          </a:p>
          <a:p>
            <a:r>
              <a:rPr lang="fr-FR" sz="2800" dirty="0" smtClean="0"/>
              <a:t>Une coalition internationale de pays, partis et collectifs ?</a:t>
            </a:r>
            <a:br>
              <a:rPr lang="fr-FR" sz="2800" dirty="0" smtClean="0"/>
            </a:br>
            <a:endParaRPr lang="fr-FR" sz="2800" dirty="0" smtClean="0"/>
          </a:p>
          <a:p>
            <a:r>
              <a:rPr lang="fr-FR" sz="2800" dirty="0"/>
              <a:t>Une grève mondiale </a:t>
            </a:r>
            <a:r>
              <a:rPr lang="fr-FR" sz="2800" dirty="0" smtClean="0"/>
              <a:t>?</a:t>
            </a:r>
            <a:br>
              <a:rPr lang="fr-FR" sz="2800" dirty="0" smtClean="0"/>
            </a:br>
            <a:endParaRPr lang="fr-FR" sz="2800" dirty="0" smtClean="0"/>
          </a:p>
          <a:p>
            <a:pPr marL="0" indent="0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71364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23" y="1196340"/>
            <a:ext cx="7780020" cy="5661660"/>
          </a:xfrm>
          <a:prstGeom prst="rect">
            <a:avLst/>
          </a:prstGeom>
        </p:spPr>
      </p:pic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659823" y="152400"/>
            <a:ext cx="8596668" cy="1320800"/>
          </a:xfrm>
        </p:spPr>
        <p:txBody>
          <a:bodyPr/>
          <a:lstStyle/>
          <a:p>
            <a:r>
              <a:rPr lang="fr-FR" dirty="0" smtClean="0"/>
              <a:t>Pour aller plus loin :</a:t>
            </a:r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659823" y="731520"/>
            <a:ext cx="833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Aussi en PDF (français ou anglais) gratuit : bit.ly/</a:t>
            </a:r>
            <a:r>
              <a:rPr lang="fr-FR" dirty="0" err="1" smtClean="0"/>
              <a:t>plan_mondial_climat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878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77534" y="515588"/>
            <a:ext cx="8596668" cy="1320800"/>
          </a:xfrm>
        </p:spPr>
        <p:txBody>
          <a:bodyPr/>
          <a:lstStyle/>
          <a:p>
            <a:r>
              <a:rPr lang="fr-FR" dirty="0" smtClean="0"/>
              <a:t>Merci pour votre attention !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3836063"/>
            <a:ext cx="10971741" cy="3021937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 </a:t>
            </a:r>
            <a:r>
              <a:rPr lang="fr-FR" b="1" dirty="0" smtClean="0"/>
              <a:t>    </a:t>
            </a:r>
            <a:r>
              <a:rPr lang="fr-FR" sz="2000" b="1" dirty="0" smtClean="0"/>
              <a:t>Sources</a:t>
            </a:r>
            <a:endParaRPr lang="fr-FR" b="1" dirty="0" smtClean="0"/>
          </a:p>
          <a:p>
            <a:r>
              <a:rPr lang="fr-FR" dirty="0" smtClean="0"/>
              <a:t>Enquêtes :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Fabre</a:t>
            </a:r>
            <a:r>
              <a:rPr lang="fr-FR" dirty="0" smtClean="0"/>
              <a:t>, </a:t>
            </a:r>
            <a:r>
              <a:rPr lang="fr-FR" dirty="0" err="1" smtClean="0"/>
              <a:t>Douenne</a:t>
            </a:r>
            <a:r>
              <a:rPr lang="fr-FR" dirty="0" smtClean="0"/>
              <a:t> &amp; </a:t>
            </a:r>
            <a:r>
              <a:rPr lang="fr-FR" dirty="0" err="1" smtClean="0"/>
              <a:t>Mattauch</a:t>
            </a:r>
            <a:r>
              <a:rPr lang="fr-FR" dirty="0" smtClean="0"/>
              <a:t>, </a:t>
            </a:r>
            <a:r>
              <a:rPr lang="en-US" i="1" dirty="0"/>
              <a:t>International Attitudes Toward Global </a:t>
            </a:r>
            <a:r>
              <a:rPr lang="en-US" i="1" dirty="0" smtClean="0"/>
              <a:t>Policies</a:t>
            </a:r>
            <a:r>
              <a:rPr lang="fr-FR" dirty="0" smtClean="0"/>
              <a:t> (2023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Fabre, </a:t>
            </a:r>
            <a:r>
              <a:rPr lang="fr-FR" i="1" dirty="0" smtClean="0"/>
              <a:t>Public </a:t>
            </a:r>
            <a:r>
              <a:rPr lang="fr-FR" i="1" dirty="0" err="1" smtClean="0"/>
              <a:t>Acceptance</a:t>
            </a:r>
            <a:r>
              <a:rPr lang="fr-FR" i="1" dirty="0" smtClean="0"/>
              <a:t> of International Redistribution in High-</a:t>
            </a:r>
            <a:r>
              <a:rPr lang="fr-FR" i="1" dirty="0" err="1" smtClean="0"/>
              <a:t>Income</a:t>
            </a:r>
            <a:r>
              <a:rPr lang="fr-FR" i="1" dirty="0" smtClean="0"/>
              <a:t> Countries </a:t>
            </a:r>
            <a:r>
              <a:rPr lang="fr-FR" dirty="0" smtClean="0"/>
              <a:t>(2025)</a:t>
            </a:r>
            <a:endParaRPr lang="fr-FR" dirty="0" smtClean="0"/>
          </a:p>
          <a:p>
            <a:r>
              <a:rPr lang="fr-FR" dirty="0" smtClean="0"/>
              <a:t>Propositions </a:t>
            </a:r>
            <a:r>
              <a:rPr lang="fr-FR" dirty="0" smtClean="0"/>
              <a:t>: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Fabre</a:t>
            </a:r>
            <a:r>
              <a:rPr lang="fr-FR" dirty="0" smtClean="0"/>
              <a:t>, </a:t>
            </a:r>
            <a:r>
              <a:rPr lang="fr-FR" i="1" dirty="0" smtClean="0"/>
              <a:t>Un Plan mondial pour le climat et contre l’extrême pauvreté</a:t>
            </a:r>
            <a:r>
              <a:rPr lang="fr-FR" dirty="0" smtClean="0"/>
              <a:t> (</a:t>
            </a:r>
            <a:r>
              <a:rPr lang="fr-FR" dirty="0" smtClean="0"/>
              <a:t>2024)</a:t>
            </a:r>
            <a:br>
              <a:rPr lang="fr-FR" dirty="0" smtClean="0"/>
            </a:br>
            <a:r>
              <a:rPr lang="fr-FR" dirty="0" smtClean="0"/>
              <a:t>Fabre </a:t>
            </a:r>
            <a:r>
              <a:rPr lang="fr-FR" dirty="0" smtClean="0"/>
              <a:t>et al., </a:t>
            </a:r>
            <a:r>
              <a:rPr lang="fr-FR" i="1" dirty="0" smtClean="0"/>
              <a:t>An International Plan for </a:t>
            </a:r>
            <a:r>
              <a:rPr lang="fr-FR" i="1" dirty="0" err="1" smtClean="0"/>
              <a:t>Sustainable</a:t>
            </a:r>
            <a:r>
              <a:rPr lang="fr-FR" i="1" dirty="0" smtClean="0"/>
              <a:t> </a:t>
            </a:r>
            <a:r>
              <a:rPr lang="fr-FR" i="1" dirty="0" err="1" smtClean="0"/>
              <a:t>Development</a:t>
            </a:r>
            <a:r>
              <a:rPr lang="fr-FR" i="1" dirty="0" smtClean="0"/>
              <a:t> </a:t>
            </a:r>
            <a:r>
              <a:rPr lang="fr-FR" dirty="0" smtClean="0"/>
              <a:t>(2026)</a:t>
            </a:r>
            <a:endParaRPr lang="fr-FR" dirty="0" smtClean="0"/>
          </a:p>
          <a:p>
            <a:endParaRPr lang="en-US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677334" y="3140176"/>
            <a:ext cx="10971741" cy="302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fr-FR" b="1" dirty="0" smtClean="0"/>
              <a:t>     </a:t>
            </a:r>
            <a:r>
              <a:rPr lang="fr-FR" sz="2000" b="1" dirty="0" smtClean="0"/>
              <a:t>Lien vers tous documents utiles, vidéo, livre… :</a:t>
            </a:r>
            <a:r>
              <a:rPr lang="fr-FR" b="1" dirty="0"/>
              <a:t> </a:t>
            </a:r>
            <a:r>
              <a:rPr lang="fr-FR" b="1" dirty="0" smtClean="0"/>
              <a:t> </a:t>
            </a:r>
            <a:r>
              <a:rPr lang="en-US" sz="2800" b="1" dirty="0" smtClean="0">
                <a:solidFill>
                  <a:schemeClr val="accent1"/>
                </a:solidFill>
              </a:rPr>
              <a:t>bit.ly/</a:t>
            </a:r>
            <a:r>
              <a:rPr lang="en-US" sz="2800" b="1" dirty="0" err="1" smtClean="0">
                <a:solidFill>
                  <a:schemeClr val="accent1"/>
                </a:solidFill>
              </a:rPr>
              <a:t>gra_pmc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283488"/>
            <a:ext cx="771525" cy="771525"/>
          </a:xfrm>
          <a:prstGeom prst="rect">
            <a:avLst/>
          </a:prstGeom>
        </p:spPr>
      </p:pic>
      <p:pic>
        <p:nvPicPr>
          <p:cNvPr id="7" name="Espace réservé du contenu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492844"/>
            <a:ext cx="5972175" cy="766600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3181350" y="2438417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 smtClean="0"/>
              <a:t>adrien_fabre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009495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2109</TotalTime>
  <Words>848</Words>
  <Application>Microsoft Office PowerPoint</Application>
  <PresentationFormat>Grand écran</PresentationFormat>
  <Paragraphs>108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Arial</vt:lpstr>
      <vt:lpstr>Calibri</vt:lpstr>
      <vt:lpstr>Times New Roman</vt:lpstr>
      <vt:lpstr>Trebuchet MS</vt:lpstr>
      <vt:lpstr>Wingdings 3</vt:lpstr>
      <vt:lpstr>Facette</vt:lpstr>
      <vt:lpstr>Les pays à hauts revenus 100 fois plus riches que les pays à bas revenus</vt:lpstr>
      <vt:lpstr>Les négociations climat dans l’impasse…</vt:lpstr>
      <vt:lpstr>… Malgré un fort soutien à une  politique climatique à l’échelle mondiale</vt:lpstr>
      <vt:lpstr>Un Plan Mondial pour le Climat</vt:lpstr>
      <vt:lpstr>Un Plan Mondial pour le Climat</vt:lpstr>
      <vt:lpstr>Un Plan Mondial pour le Climat</vt:lpstr>
      <vt:lpstr>   Une Union Soutenable</vt:lpstr>
      <vt:lpstr>Une vision partagée vers la justice climatique</vt:lpstr>
      <vt:lpstr>Une vision partagée vers la justice climatique</vt:lpstr>
      <vt:lpstr>Une vision partagée vers la justice climatique</vt:lpstr>
      <vt:lpstr>Une vision partagée vers la justice climatique</vt:lpstr>
      <vt:lpstr>Une vision partagée vers la justice climatique</vt:lpstr>
      <vt:lpstr>Une vision partagée vers la justice climatique</vt:lpstr>
      <vt:lpstr>Pourquoi la redistribution mondiale  est-elle absente du débat public ?</vt:lpstr>
      <vt:lpstr>Pourquoi la redistribution mondiale  est-elle absente du débat public ?</vt:lpstr>
      <vt:lpstr>Pourquoi la redistribution mondiale  est-elle absente du débat public ?</vt:lpstr>
      <vt:lpstr>Pourquoi la redistribution mondiale  est-elle absente du débat public ?</vt:lpstr>
      <vt:lpstr>Pourquoi la redistribution mondiale  est-elle absente du débat public ?</vt:lpstr>
      <vt:lpstr>Pourquoi la redistribution mondiale  est-elle absente du débat public ?</vt:lpstr>
      <vt:lpstr>Pourquoi la redistribution mondiale  est-elle absente du débat public ?</vt:lpstr>
      <vt:lpstr>Que faire pour la justice climatique ?</vt:lpstr>
      <vt:lpstr>Que faire pour la justice climatique ?</vt:lpstr>
      <vt:lpstr>Que faire pour la justice climatique ?</vt:lpstr>
      <vt:lpstr>Pour aller plus loin :</vt:lpstr>
      <vt:lpstr>Merci pour votre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fabre</dc:creator>
  <cp:lastModifiedBy>reviewer</cp:lastModifiedBy>
  <cp:revision>50</cp:revision>
  <cp:lastPrinted>2024-11-15T15:30:01Z</cp:lastPrinted>
  <dcterms:created xsi:type="dcterms:W3CDTF">2024-11-05T16:05:57Z</dcterms:created>
  <dcterms:modified xsi:type="dcterms:W3CDTF">2026-04-17T17:40:54Z</dcterms:modified>
</cp:coreProperties>
</file>