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0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56" autoAdjust="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2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[0:00-1:00]</a:t>
            </a:r>
          </a:p>
          <a:p>
            <a:r>
              <a:t>Welcome. Today: international climate policy, and one specific mechanism -- carbon trading between</a:t>
            </a:r>
          </a:p>
          <a:p>
            <a:r>
              <a:t>governments, called ITMOs -- that was finalised at COP29 in 2024 and is starting to be used right now.</a:t>
            </a:r>
          </a:p>
          <a:p>
            <a:endParaRPr/>
          </a:p>
          <a:p>
            <a:r>
              <a:t>My claim in one sentence: this mechanism can either accelerate decarbonisation or become a channel</a:t>
            </a:r>
          </a:p>
          <a:p>
            <a:r>
              <a:t>for exporting low ambition, and which of the two happens depends entirely on rules that are not yet</a:t>
            </a:r>
          </a:p>
          <a:p>
            <a:r>
              <a:t>written.</a:t>
            </a:r>
          </a:p>
          <a:p>
            <a:endParaRPr/>
          </a:p>
          <a:p>
            <a:r>
              <a:t>No prior knowledge assumed. The first 15 minutes are a guided tour of the Paris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[1:00-2:00]</a:t>
            </a:r>
          </a:p>
          <a:p>
            <a:r>
              <a:t>Roadmap. Parts 1 and 2 are pedagogy -- roughly the first half. Part 3 is the actual contribution of</a:t>
            </a:r>
          </a:p>
          <a:p>
            <a:r>
              <a:t>the paper. Part 4 puts it in competition with the other proposals on the table.</a:t>
            </a:r>
          </a:p>
          <a:p>
            <a:endParaRPr/>
          </a:p>
          <a:p>
            <a:r>
              <a:t>If you already know the UNFCCC machinery, bear with me for 15 minutes; the payoff is that the</a:t>
            </a:r>
          </a:p>
          <a:p>
            <a:r>
              <a:t>argument in Part 3 needs every one of those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[2:00]</a:t>
            </a:r>
          </a:p>
          <a:p>
            <a:r>
              <a:t>Part 1. I'll build the picture in six steps: the underlying problem, the history, what Paris actually</a:t>
            </a:r>
          </a:p>
          <a:p>
            <a:r>
              <a:t>says, the size of the shortfall, why the shortfall exists, and the two other pillars of the regime</a:t>
            </a:r>
          </a:p>
          <a:p>
            <a:r>
              <a:t>(money and partnerships).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[2:20-4:00]</a:t>
            </a:r>
          </a:p>
          <a:p>
            <a:r>
              <a:t>Start from first principles, because everything downstream follows from this.</a:t>
            </a:r>
          </a:p>
          <a:p>
            <a:endParaRPr/>
          </a:p>
          <a:p>
            <a:r>
              <a:t>Climate is the textbook global commons problem, in its most extreme form. Benefits of mitigation are</a:t>
            </a:r>
          </a:p>
          <a:p>
            <a:r>
              <a:t>perfectly non-excludable and global. Costs are local, concentrated, and land on an identifiable</a:t>
            </a:r>
          </a:p>
          <a:p>
            <a:r>
              <a:t>treasury and electorate. So the dominant strategy for each country individually is to free-ride.</a:t>
            </a:r>
          </a:p>
          <a:p>
            <a:endParaRPr/>
          </a:p>
          <a:p>
            <a:r>
              <a:t>And crucially: there is no enforcer. No world government, no global tax authority, no court that can</a:t>
            </a:r>
          </a:p>
          <a:p>
            <a:r>
              <a:t>compel a state to cut emissions. Every instrument we have is a voluntary agreement.</a:t>
            </a:r>
          </a:p>
          <a:p>
            <a:endParaRPr/>
          </a:p>
          <a:p>
            <a:r>
              <a:t>Hold on to the two questions in the box. HOW MUCH, and WHO PAYS. The whole history of climate</a:t>
            </a:r>
          </a:p>
          <a:p>
            <a:r>
              <a:t>negotiations is the story of failing to settle question two -- and question one collapsing as a</a:t>
            </a:r>
          </a:p>
          <a:p>
            <a:r>
              <a:t>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[4:00-5:30]</a:t>
            </a:r>
          </a:p>
          <a:p>
            <a:r>
              <a:t>1992, Rio: the UNFCCC. Universal -- essentially every country on earth. It creates a binary split:</a:t>
            </a:r>
          </a:p>
          <a:p>
            <a:r>
              <a:t>Annex I 'developed' countries who pay, and everyone else who receives. Remember that binary; it is</a:t>
            </a:r>
          </a:p>
          <a:p>
            <a:r>
              <a:t>still with us and it is now badly out of date. Singapore, South Korea and Saudi Arabia are all richer</a:t>
            </a:r>
          </a:p>
          <a:p>
            <a:r>
              <a:t>than Greece, but only Greece has financial obligations.</a:t>
            </a:r>
          </a:p>
          <a:p>
            <a:endParaRPr/>
          </a:p>
          <a:p>
            <a:r>
              <a:t>1997, Kyoto: legally binding targets, top-down, rich countries only. It's the architecture people</a:t>
            </a:r>
          </a:p>
          <a:p>
            <a:r>
              <a:t>usually wish we had. It failed politically: the US signed but never ratified, Canada withdrew, and by</a:t>
            </a:r>
          </a:p>
          <a:p>
            <a:r>
              <a:t>the time it mattered the emissions were coming from countries with no target at all.</a:t>
            </a:r>
          </a:p>
          <a:p>
            <a:endParaRPr/>
          </a:p>
          <a:p>
            <a:r>
              <a:t>2009, Copenhagen: the decisive failure, and the reason the system looks the way it does today. The</a:t>
            </a:r>
          </a:p>
          <a:p>
            <a:r>
              <a:t>summit was meant to produce a binding successor to Kyoto covering everyone. It produced a three-page</a:t>
            </a:r>
          </a:p>
          <a:p>
            <a:r>
              <a:t>political accord, negotiated by a handful of leaders, that the conference could only "take note" of.</a:t>
            </a:r>
          </a:p>
          <a:p>
            <a:r>
              <a:t>No targets, no treaty. That collapse is what killed the top-down model. Everything after 2009 is</a:t>
            </a:r>
          </a:p>
          <a:p>
            <a:r>
              <a:t>built on the assumption that you cannot make sovereign states accept an externally imposed number.</a:t>
            </a:r>
          </a:p>
          <a:p>
            <a:endParaRPr/>
          </a:p>
          <a:p>
            <a:r>
              <a:t>2015, Paris: hence the trade-off is reversed. Universal participation, bought at the price of</a:t>
            </a:r>
          </a:p>
          <a:p>
            <a:r>
              <a:t>self-determined, non-binding pledges. And it worked, in the sense that everyone joined -- all</a:t>
            </a:r>
          </a:p>
          <a:p>
            <a:r>
              <a:t>countries but Iran, Libya and Yemen ratified, before the US withdrawal. The price of that</a:t>
            </a:r>
          </a:p>
          <a:p>
            <a:r>
              <a:t>universality is the design flaw I'm about to describe.</a:t>
            </a:r>
          </a:p>
          <a:p>
            <a:endParaRPr/>
          </a:p>
          <a:p>
            <a:r>
              <a:t>2024, COP29, Baku: the rulebook for Article 6 -- carbon trading -- is finally completed after nine</a:t>
            </a:r>
          </a:p>
          <a:p>
            <a:r>
              <a:t>years of wrangling. That's what unlocks the subject of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[5:30-7:15]</a:t>
            </a:r>
          </a:p>
          <a:p>
            <a:r>
              <a:t>Two moving parts, and this is the crux of the whole talk.</a:t>
            </a:r>
          </a:p>
          <a:p>
            <a:endParaRPr/>
          </a:p>
          <a:p>
            <a:r>
              <a:t>Part one: a collectively agreed temperature target. 'Well below 2 degrees, pursuing 1.5.' Note in</a:t>
            </a:r>
          </a:p>
          <a:p>
            <a:r>
              <a:t>passing that even this is vaguer than it looks: because the climate system is uncertain, 'below 2C'</a:t>
            </a:r>
          </a:p>
          <a:p>
            <a:r>
              <a:t>means different carbon budgets depending on the probability you demand. Roughly: 900 gigatonnes of</a:t>
            </a:r>
          </a:p>
          <a:p>
            <a:r>
              <a:t>CO2 from 2020 for an 83% chance, 1150 for 67%, 1350 for a coin flip. Same words, 50% difference in</a:t>
            </a:r>
          </a:p>
          <a:p>
            <a:r>
              <a:t>the budget.</a:t>
            </a:r>
          </a:p>
          <a:p>
            <a:endParaRPr/>
          </a:p>
          <a:p>
            <a:r>
              <a:t>Part two: nationally determined contributions. Each country writes its own homework. And I mean</a:t>
            </a:r>
          </a:p>
          <a:p>
            <a:r>
              <a:t>literally its own: it chooses which gases to cover, which sectors, whether the target is absolute or</a:t>
            </a:r>
          </a:p>
          <a:p>
            <a:r>
              <a:t>relative to GDP, whether it's against 1990 or 2005 or a projected baseline.</a:t>
            </a:r>
          </a:p>
          <a:p>
            <a:endParaRPr/>
          </a:p>
          <a:p>
            <a:r>
              <a:t>And here is the design flaw. There is no arithmetic connecting part one to part two. Nobody's pledge</a:t>
            </a:r>
          </a:p>
          <a:p>
            <a:r>
              <a:t>is derived from the global target. There is no sanction for missing it. The only link is the</a:t>
            </a:r>
          </a:p>
          <a:p>
            <a:r>
              <a:t>five-yearly ratchet: come back with something better. Ambition is supposed to emerge from peer</a:t>
            </a:r>
          </a:p>
          <a:p>
            <a:r>
              <a:t>pressure.</a:t>
            </a:r>
          </a:p>
          <a:p>
            <a:endParaRPr/>
          </a:p>
          <a:p>
            <a:r>
              <a:t>The obvious question is: does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[7:15-8:45]</a:t>
            </a:r>
          </a:p>
          <a:p>
            <a:r>
              <a:t>Here is the number that motivates everything.</a:t>
            </a:r>
          </a:p>
          <a:p>
            <a:endParaRPr/>
          </a:p>
          <a:p>
            <a:r>
              <a:t>To have a two-in-three chance of staying below 2 degrees, global emissions in 2030 need to be about</a:t>
            </a:r>
          </a:p>
          <a:p>
            <a:r>
              <a:t>41 gigatonnes of CO2-equivalent. Add up every single NDC on the table, assume perfect compliance,</a:t>
            </a:r>
          </a:p>
          <a:p>
            <a:r>
              <a:t>and you get 51. A ten-gigatonne annual shortfall -- roughly a fifth of current emissions, or about</a:t>
            </a:r>
          </a:p>
          <a:p>
            <a:r>
              <a:t>twice the emissions of the United States.</a:t>
            </a:r>
          </a:p>
          <a:p>
            <a:endParaRPr/>
          </a:p>
          <a:p>
            <a:r>
              <a:t>Translated into temperature: Climate Action Tracker puts current policies on a 2.6 degree trajectory</a:t>
            </a:r>
          </a:p>
          <a:p>
            <a:r>
              <a:t>by 2100, and not stabilising there.</a:t>
            </a:r>
          </a:p>
          <a:p>
            <a:endParaRPr/>
          </a:p>
          <a:p>
            <a:r>
              <a:t>I want to be precise about what kind of failure this is, because it changes the remedy. This is not</a:t>
            </a:r>
          </a:p>
          <a:p>
            <a:r>
              <a:t>countries cheating on their pledges. This is the pledges themselves being collectively insufficient.</a:t>
            </a:r>
          </a:p>
          <a:p>
            <a:r>
              <a:t>Perfect compliance still misses. So 'better monitoring' or 'stronger enforcement' would not fix it.</a:t>
            </a:r>
          </a:p>
          <a:p>
            <a:r>
              <a:t>The pledges have to change.</a:t>
            </a:r>
          </a:p>
          <a:p>
            <a:endParaRPr/>
          </a:p>
          <a:p>
            <a:r>
              <a:t>[If asked: yes, some countries also miss their pledges. That's a second, separate problem, and it</a:t>
            </a:r>
          </a:p>
          <a:p>
            <a:r>
              <a:t>will come back in Part 3.]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[8:45-10:15]</a:t>
            </a:r>
          </a:p>
          <a:p>
            <a:r>
              <a:t>Why did the pledges come out too small? Not because negotiators are lazy. Because of the question I</a:t>
            </a:r>
          </a:p>
          <a:p>
            <a:r>
              <a:t>flagged at the start: who bears which share?</a:t>
            </a:r>
          </a:p>
          <a:p>
            <a:endParaRPr/>
          </a:p>
          <a:p>
            <a:r>
              <a:t>The UNFCCC's answer is a single phrase, from 1992: common but differentiated responsibilities and</a:t>
            </a:r>
          </a:p>
          <a:p>
            <a:r>
              <a:t>respective capabilities. It is genuinely well-intentioned -- it's trying to hold together four or</a:t>
            </a:r>
          </a:p>
          <a:p>
            <a:r>
              <a:t>five different ethical intuitions at once. But as an operational rule it's empty, because those</a:t>
            </a:r>
          </a:p>
          <a:p>
            <a:r>
              <a:t>intuitions point in wildly different directions.</a:t>
            </a:r>
          </a:p>
          <a:p>
            <a:endParaRPr/>
          </a:p>
          <a:p>
            <a:r>
              <a:t>Common action: everyone takes on the same obligation -- superficially the fairest-sounding, and the</a:t>
            </a:r>
          </a:p>
          <a:p>
            <a:r>
              <a:t>one that low-income countries reject outright, because identical obligations on unequal countries are</a:t>
            </a:r>
          </a:p>
          <a:p>
            <a:r>
              <a:t>not equal treatment. Equal per capita: India gets a lot of room, the US almost none. Historical</a:t>
            </a:r>
          </a:p>
          <a:p>
            <a:r>
              <a:t>responsibility: even more so, and rich countries arguably owe a debt. Ability to pay: similar. And</a:t>
            </a:r>
          </a:p>
          <a:p>
            <a:r>
              <a:t>grandfathering, which nobody defends in public but which every negotiator quietly uses, rewards</a:t>
            </a:r>
          </a:p>
          <a:p>
            <a:r>
              <a:t>today's big emitters.</a:t>
            </a:r>
          </a:p>
          <a:p>
            <a:endParaRPr/>
          </a:p>
          <a:p>
            <a:r>
              <a:t>[If you want a fifth: cost-optimality -- cut wherever abatement is cheapest -- points somewhere else</a:t>
            </a:r>
          </a:p>
          <a:p>
            <a:r>
              <a:t>again. It comes back later, as one half of the ambition test.]</a:t>
            </a:r>
          </a:p>
          <a:p>
            <a:endParaRPr/>
          </a:p>
          <a:p>
            <a:r>
              <a:t>Also note the UNFCCC's binary developed/developing classification is frozen in 1992 and now blocks</a:t>
            </a:r>
          </a:p>
          <a:p>
            <a:r>
              <a:t>negotiations: newly high-income countries refuse reclassification, and historically developed</a:t>
            </a:r>
          </a:p>
          <a:p>
            <a:r>
              <a:t>countries refuse to give more unless every rich country does.</a:t>
            </a:r>
          </a:p>
          <a:p>
            <a:endParaRPr/>
          </a:p>
          <a:p>
            <a:r>
              <a:t>The consequence is the important part. Because there is no agreed formula, there is no basis on which</a:t>
            </a:r>
          </a:p>
          <a:p>
            <a:r>
              <a:t>to tell any government that its pledge is inadequate. Ambition becomes unenforceable -- not for lack</a:t>
            </a:r>
          </a:p>
          <a:p>
            <a:r>
              <a:t>of will, but for lack of a shared yardstick. Remember this: my proposal in Part 3 is essentially an</a:t>
            </a:r>
          </a:p>
          <a:p>
            <a:r>
              <a:t>attempt to manufacture that yardstick among a subset of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[10:15-12:00]</a:t>
            </a:r>
          </a:p>
          <a:p>
            <a:r>
              <a:t>Two other pillars, quickly, because I'll compare against them later.</a:t>
            </a:r>
          </a:p>
          <a:p>
            <a:endParaRPr/>
          </a:p>
          <a:p>
            <a:r>
              <a:t>Climate finance. At COP29 rich countries committed to mobilise 300 billion a year by 2035. Sounds</a:t>
            </a:r>
          </a:p>
          <a:p>
            <a:r>
              <a:t>large. Three caveats. First, 'mobilise' includes loans, including private loans -- of the current</a:t>
            </a:r>
          </a:p>
          <a:p>
            <a:r>
              <a:t>100 billion goal, only 26 billion arrives as grants. Second, India asked for 600 billion in grants</a:t>
            </a:r>
          </a:p>
          <a:p>
            <a:r>
              <a:t>specifically. Third, the order of magnitude that a fair carbon-budget split would imply is 1.5</a:t>
            </a:r>
          </a:p>
          <a:p>
            <a:r>
              <a:t>trillion in 2035, and above 1 trillion a year through 2060. The carbon debt the North owes the South</a:t>
            </a:r>
          </a:p>
          <a:p>
            <a:r>
              <a:t>has been estimated between 26 and 192 trillion dollars. So we're an order of magnitude off, and this</a:t>
            </a:r>
          </a:p>
          <a:p>
            <a:r>
              <a:t>matters because many developing countries explicitly condition their pledges on receiving finance.</a:t>
            </a:r>
          </a:p>
          <a:p>
            <a:endParaRPr/>
          </a:p>
          <a:p>
            <a:r>
              <a:t>JETPs. Genuinely promising: a developing country commits to real emission reductions and gets cheap</a:t>
            </a:r>
          </a:p>
          <a:p>
            <a:r>
              <a:t>capital in return. It's the one instrument in the current regime that ties money to measurable</a:t>
            </a:r>
          </a:p>
          <a:p>
            <a:r>
              <a:t>mitigation. Four exist. But: narrow scope, mostly loans rather than grants so no development</a:t>
            </a:r>
          </a:p>
          <a:p>
            <a:r>
              <a:t>dividend, and structurally they can never discipline a large emitter -- there is no JETP for China</a:t>
            </a:r>
          </a:p>
          <a:p>
            <a:r>
              <a:t>or the EU.</a:t>
            </a:r>
          </a:p>
          <a:p>
            <a:endParaRPr/>
          </a:p>
          <a:p>
            <a:r>
              <a:t>The common weakness, and this is why we need something else: both instruments finance clean</a:t>
            </a:r>
          </a:p>
          <a:p>
            <a:r>
              <a:t>investment. Neither one caps emissions. In the worst case you build the solar farm on top of the</a:t>
            </a:r>
          </a:p>
          <a:p>
            <a:r>
              <a:t>coal plant and total emissions don't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[12:00]</a:t>
            </a:r>
          </a:p>
          <a:p>
            <a:r>
              <a:t>Part 2. Now the mechanism itself. I'll do it in four beats: why trading is a good idea at all, how</a:t>
            </a:r>
          </a:p>
          <a:p>
            <a:r>
              <a:t>Article 6.2 works mechanically, who is actually using it, and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[12:20-14:00]</a:t>
            </a:r>
          </a:p>
          <a:p>
            <a:r>
              <a:t>Before criticising carbon trading I want to make the case for it honestly, because it is a strong</a:t>
            </a:r>
          </a:p>
          <a:p>
            <a:r>
              <a:t>case.</a:t>
            </a:r>
          </a:p>
          <a:p>
            <a:endParaRPr/>
          </a:p>
          <a:p>
            <a:r>
              <a:t>Abatement costs differ enormously across countries. Deep decarbonisation of an already-efficient</a:t>
            </a:r>
          </a:p>
          <a:p>
            <a:r>
              <a:t>European economy might cost 200 dollars a tonne at the margin; replacing a planned coal plant with</a:t>
            </a:r>
          </a:p>
          <a:p>
            <a:r>
              <a:t>solar in a fast-growing economy might cost 20. Same tonne, same effect on the atmosphere,</a:t>
            </a:r>
          </a:p>
          <a:p>
            <a:r>
              <a:t>ten-to-one cost difference.</a:t>
            </a:r>
          </a:p>
          <a:p>
            <a:endParaRPr/>
          </a:p>
          <a:p>
            <a:r>
              <a:t>So if the expensive country pays the cheap country to do the cutting -- at any price between 20 and</a:t>
            </a:r>
          </a:p>
          <a:p>
            <a:r>
              <a:t>200, say 60 -- the tonne still gets avoided, the buyer saves money, and the seller earns a surplus.</a:t>
            </a:r>
          </a:p>
          <a:p>
            <a:r>
              <a:t>This is gains from trade in its purest form. It's why economists have pushed for international</a:t>
            </a:r>
          </a:p>
          <a:p>
            <a:r>
              <a:t>carbon markets for thirty years, and it's a genuine reason to want Article 6 to work.</a:t>
            </a:r>
          </a:p>
          <a:p>
            <a:endParaRPr/>
          </a:p>
          <a:p>
            <a:r>
              <a:t>Now the sentence in the gold box, which is the pivot of the whole talk. Trade is a device for</a:t>
            </a:r>
          </a:p>
          <a:p>
            <a:r>
              <a:t>allocating a fixed amount of effort at least cost. It takes the total as given. If the total is</a:t>
            </a:r>
          </a:p>
          <a:p>
            <a:r>
              <a:t>right, trading makes it cheaper. If the total is wrong, trading just distributes the wrongness more</a:t>
            </a:r>
          </a:p>
          <a:p>
            <a:r>
              <a:t>efficiently -- and, as we'll see, actively spreads it.</a:t>
            </a:r>
          </a:p>
          <a:p>
            <a:endParaRPr/>
          </a:p>
          <a:p>
            <a:r>
              <a:t>And we established a few slides ago that the total is wrong by ten gigatonnes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[14:00-15:45]</a:t>
            </a:r>
          </a:p>
          <a:p>
            <a:r>
              <a:t>Mechanically, here is what Article 6.2 does.</a:t>
            </a:r>
          </a:p>
          <a:p>
            <a:endParaRPr/>
          </a:p>
          <a:p>
            <a:r>
              <a:t>A buyer government pays a seller government for verified emission reductions achieved in the seller's</a:t>
            </a:r>
          </a:p>
          <a:p>
            <a:r>
              <a:t>territory. The buyer counts those tonnes toward its own NDC. Crucially, the seller then has to add</a:t>
            </a:r>
          </a:p>
          <a:p>
            <a:r>
              <a:t>those same tonnes back onto its own emissions account -- that's the 'corresponding adjustment',</a:t>
            </a:r>
          </a:p>
          <a:p>
            <a:r>
              <a:t>finalised at COP29. It means the same tonne cannot be claimed by both parties. This was the single</a:t>
            </a:r>
          </a:p>
          <a:p>
            <a:r>
              <a:t>hardest thing to negotiate and it took nine years.</a:t>
            </a:r>
          </a:p>
          <a:p>
            <a:endParaRPr/>
          </a:p>
          <a:p>
            <a:r>
              <a:t>Two features to hold on to.</a:t>
            </a:r>
          </a:p>
          <a:p>
            <a:endParaRPr/>
          </a:p>
          <a:p>
            <a:r>
              <a:t>First, this is government-to-government, not firm-to-firm. It is not the EU emissions trading system;</a:t>
            </a:r>
          </a:p>
          <a:p>
            <a:r>
              <a:t>it's a treaty-level accounting transfer. And it is purely bilateral: any two governments can strike</a:t>
            </a:r>
          </a:p>
          <a:p>
            <a:r>
              <a:t>any deal they like, at any price, in any quantity. There is no central market, no clearing house, no</a:t>
            </a:r>
          </a:p>
          <a:p>
            <a:r>
              <a:t>regulator.</a:t>
            </a:r>
          </a:p>
          <a:p>
            <a:endParaRPr/>
          </a:p>
          <a:p>
            <a:r>
              <a:t>Second -- and this is the whole issue -- the rulebook regulates the accounting impeccably. It says</a:t>
            </a:r>
          </a:p>
          <a:p>
            <a:r>
              <a:t>nothing about whether the seller's NDC was ambitious enough for those tonnes to represent real</a:t>
            </a:r>
          </a:p>
          <a:p>
            <a:r>
              <a:t>progress. The plumbing is sound. The water going through it may not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[15:45-17:15]</a:t>
            </a:r>
          </a:p>
          <a:p>
            <a:r>
              <a:t>And this is not hypothetical. It is live.</a:t>
            </a:r>
          </a:p>
          <a:p>
            <a:endParaRPr/>
          </a:p>
          <a:p>
            <a:r>
              <a:t>Switzerland has finalised the first ITMO transfers in history, with Thailand and Ghana, and may</a:t>
            </a:r>
          </a:p>
          <a:p>
            <a:r>
              <a:t>cover more than half of its 2035 target this way.</a:t>
            </a:r>
          </a:p>
          <a:p>
            <a:endParaRPr/>
          </a:p>
          <a:p>
            <a:r>
              <a:t>The EU is the big one. The 2040 climate law allows international credits up to 5% of 1990 emissions.</a:t>
            </a:r>
          </a:p>
          <a:p>
            <a:r>
              <a:t>That sounds small until you put it against a 90% domestic reduction target: 5% of 1990 against a</a:t>
            </a:r>
          </a:p>
          <a:p>
            <a:r>
              <a:t>remaining 10% of 1990 means the EU could emit roughly 50% more than its stated 2040 domestic goal.</a:t>
            </a:r>
          </a:p>
          <a:p>
            <a:r>
              <a:t>Japan has legislated something similar -- up to 53% above its goal.</a:t>
            </a:r>
          </a:p>
          <a:p>
            <a:endParaRPr/>
          </a:p>
          <a:p>
            <a:r>
              <a:t>Add Korea, Norway, Singapore, and the projected market is around 500 megatonnes a year by 2040. That</a:t>
            </a:r>
          </a:p>
          <a:p>
            <a:r>
              <a:t>is Germany's entire annual emissions, being moved between national accounts.</a:t>
            </a:r>
          </a:p>
          <a:p>
            <a:endParaRPr/>
          </a:p>
          <a:p>
            <a:r>
              <a:t>Now look at the last line, the supply side. China's current pledge is a 7 to 10 percent cut from its</a:t>
            </a:r>
          </a:p>
          <a:p>
            <a:r>
              <a:t>peak by 2035. Analysts put 2-degree alignment at around 20 percent. If a country selling ITMOs is</a:t>
            </a:r>
          </a:p>
          <a:p>
            <a:r>
              <a:t>itself on an unambitious trajectory, then what exactly is the buyer buying?</a:t>
            </a:r>
          </a:p>
          <a:p>
            <a:endParaRPr/>
          </a:p>
          <a:p>
            <a:r>
              <a:t>That's the question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[17:15-19:15]</a:t>
            </a:r>
          </a:p>
          <a:p>
            <a:r>
              <a:t>This is the slide I'd like you to remember. Take your time with it.</a:t>
            </a:r>
          </a:p>
          <a:p>
            <a:endParaRPr/>
          </a:p>
          <a:p>
            <a:r>
              <a:t>Toy world, two regions, Rich and Poor. Global carbon budget: 1000 gigatonnes. Business as usual,</a:t>
            </a:r>
          </a:p>
          <a:p>
            <a:r>
              <a:t>each region emits 750, so 1500 total -- way over.</a:t>
            </a:r>
          </a:p>
          <a:p>
            <a:endParaRPr/>
          </a:p>
          <a:p>
            <a:r>
              <a:t>Rich sets an ambitious pledge: I'll emit only 500. That's a real 250-gigatonne effort.</a:t>
            </a:r>
          </a:p>
          <a:p>
            <a:r>
              <a:t>Poor sets an unambitious pledge: I'll emit no more than 1000. Its business-as-usual is 750, so this</a:t>
            </a:r>
          </a:p>
          <a:p>
            <a:r>
              <a:t>pledge requires literally nothing.</a:t>
            </a:r>
          </a:p>
          <a:p>
            <a:endParaRPr/>
          </a:p>
          <a:p>
            <a:r>
              <a:t>Without trading: Rich does its 250 of work and emits 500. Poor does nothing and emits 750. Total</a:t>
            </a:r>
          </a:p>
          <a:p>
            <a:r>
              <a:t>1250. Over budget, but Rich's ambition delivered something real.</a:t>
            </a:r>
          </a:p>
          <a:p>
            <a:endParaRPr/>
          </a:p>
          <a:p>
            <a:r>
              <a:t>Now allow trading. Poor is sitting on 250 gigatonnes of headroom that cost it nothing to create.</a:t>
            </a:r>
          </a:p>
          <a:p>
            <a:r>
              <a:t>That's what's called 'hot air'. It will happily sell that at almost any price -- its marginal cost of</a:t>
            </a:r>
          </a:p>
          <a:p>
            <a:r>
              <a:t>production was zero. Rich buys it, and now legally emits 750 while still 'meeting' its 500 pledge.</a:t>
            </a:r>
          </a:p>
          <a:p>
            <a:endParaRPr/>
          </a:p>
          <a:p>
            <a:r>
              <a:t>Total: 1500. Trading raised global emissions by 250 gigatonnes.</a:t>
            </a:r>
          </a:p>
          <a:p>
            <a:endParaRPr/>
          </a:p>
          <a:p>
            <a:r>
              <a:t>And I want to stress: nobody cheated. Corresponding adjustments were made. Every tonne was verified.</a:t>
            </a:r>
          </a:p>
          <a:p>
            <a:r>
              <a:t>Every rule in the COP29 rulebook was followed. The mechanism did exactly what it was designed to do.</a:t>
            </a:r>
          </a:p>
          <a:p>
            <a:r>
              <a:t>The design is the problem.</a:t>
            </a:r>
          </a:p>
          <a:p>
            <a:endParaRPr/>
          </a:p>
          <a:p>
            <a:r>
              <a:t>[Pause here. This is the moment the argument should land.]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[19:15-20:45]</a:t>
            </a:r>
          </a:p>
          <a:p>
            <a:r>
              <a:t>Let me state the mechanism at a more general level, because the toy example is a special case of</a:t>
            </a:r>
          </a:p>
          <a:p>
            <a:r>
              <a:t>something systematic.</a:t>
            </a:r>
          </a:p>
          <a:p>
            <a:endParaRPr/>
          </a:p>
          <a:p>
            <a:r>
              <a:t>Chain of four steps. The pledges are collectively too loose -- ten gigatonnes a year. That means</a:t>
            </a:r>
          </a:p>
          <a:p>
            <a:r>
              <a:t>somewhere in the world there is a large stock of emission room that nobody had to work for. That</a:t>
            </a:r>
          </a:p>
          <a:p>
            <a:r>
              <a:t>supply of near-costless tonnes drives the ITMO price down. And a low price means that for any buyer,</a:t>
            </a:r>
          </a:p>
          <a:p>
            <a:r>
              <a:t>purchasing paper dominates transforming its economy.</a:t>
            </a:r>
          </a:p>
          <a:p>
            <a:endParaRPr/>
          </a:p>
          <a:p>
            <a:r>
              <a:t>Here's the economics in one line. A carbon price is meant to be a shadow price -- the marginal value</a:t>
            </a:r>
          </a:p>
          <a:p>
            <a:r>
              <a:t>of relaxing a binding constraint. That's what makes it informative. But the constraint here is the</a:t>
            </a:r>
          </a:p>
          <a:p>
            <a:r>
              <a:t>sum of NDCs, and the sum of NDCs is not binding relative to the Paris target. So the market price is</a:t>
            </a:r>
          </a:p>
          <a:p>
            <a:r>
              <a:t>not the price of scarce atmosphere. It's the price of a promise that nobody had to keep.</a:t>
            </a:r>
          </a:p>
          <a:p>
            <a:endParaRPr/>
          </a:p>
          <a:p>
            <a:r>
              <a:t>Hence the sentence on the black bar, which is really the thesis of the paper. The intuition behind</a:t>
            </a:r>
          </a:p>
          <a:p>
            <a:r>
              <a:t>Article 6 is that trading spreads ambition from ambitious buyers to lax sellers. The mechanism runs</a:t>
            </a:r>
          </a:p>
          <a:p>
            <a:r>
              <a:t>the other way. It transmits the laxity of the loosest pledge to the countries with the tightest ones.</a:t>
            </a:r>
          </a:p>
          <a:p>
            <a:r>
              <a:t>Emissions dumping.</a:t>
            </a:r>
          </a:p>
          <a:p>
            <a:endParaRPr/>
          </a:p>
          <a:p>
            <a:r>
              <a:t>Which brings us to the question the rest of the talk answers: what rules would fix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[20:45]</a:t>
            </a:r>
          </a:p>
          <a:p>
            <a:r>
              <a:rPr dirty="0"/>
              <a:t>Part 3, the core. I'll present five rungs of a ladder. Each is a rule that a group of countries could</a:t>
            </a:r>
          </a:p>
          <a:p>
            <a:r>
              <a:rPr dirty="0"/>
              <a:t>adopt voluntarily -- no need to change the Paris Agreement, no need for consensus at the UNFCCC.</a:t>
            </a:r>
          </a:p>
          <a:p>
            <a:r>
              <a:rPr dirty="0"/>
              <a:t>Each rung is more demanding and more effective than the last. I'll then argue that only the top rung</a:t>
            </a:r>
          </a:p>
          <a:p>
            <a:r>
              <a:rPr dirty="0"/>
              <a:t>actually solves the problem, but that the lower rungs are worth having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[21:05-22:45]</a:t>
            </a:r>
          </a:p>
          <a:p>
            <a:r>
              <a:t>I'm not the first to notice the problem. Two prominent proposals.</a:t>
            </a:r>
          </a:p>
          <a:p>
            <a:endParaRPr/>
          </a:p>
          <a:p>
            <a:r>
              <a:t>Michaelowa and co-authors: require additionality. A new Article 6 supervisory board first asks</a:t>
            </a:r>
          </a:p>
          <a:p>
            <a:r>
              <a:t>whether the seller's NDC is more ambitious than its business-as-usual trend. If yes, fine, trade</a:t>
            </a:r>
          </a:p>
          <a:p>
            <a:r>
              <a:t>freely. If not, the NDC is generating hot air, and you fall back to auditing every individual</a:t>
            </a:r>
          </a:p>
          <a:p>
            <a:r>
              <a:t>project. Incidentally, the same team's earlier work on dynamic baselines did shape the actual</a:t>
            </a:r>
          </a:p>
          <a:p>
            <a:r>
              <a:t>Article 6.4 rules, so this is not idle theorising.</a:t>
            </a:r>
          </a:p>
          <a:p>
            <a:endParaRPr/>
          </a:p>
          <a:p>
            <a:r>
              <a:t>La Hoz Theuer and co-authors take a more sceptical route. They test four natural definitions of</a:t>
            </a:r>
          </a:p>
          <a:p>
            <a:r>
              <a:t>business-as-usual -- extrapolate past emissions, extrapolate emissions intensity, various trends --</a:t>
            </a:r>
          </a:p>
          <a:p>
            <a:r>
              <a:t>and show that every single one still produces hot air for some countries. Their conclusion: if you</a:t>
            </a:r>
          </a:p>
          <a:p>
            <a:r>
              <a:t>can't define the baseline, don't rely on it. Just cap quantities. Let a country sell at most 1 or 5</a:t>
            </a:r>
          </a:p>
          <a:p>
            <a:r>
              <a:t>percent of its emissions. It's crude, it admits some hot air, but it's calibratable.</a:t>
            </a:r>
          </a:p>
          <a:p>
            <a:endParaRPr/>
          </a:p>
          <a:p>
            <a:r>
              <a:t>Both are genuine improvements on nothing. But notice what they have in common, in the gold box: both</a:t>
            </a:r>
          </a:p>
          <a:p>
            <a:r>
              <a:t>assume you can evaluate a pledge one country at a time, against that country's own counterfactual.</a:t>
            </a:r>
          </a:p>
          <a:p>
            <a:endParaRPr/>
          </a:p>
          <a:p>
            <a:r>
              <a:t>I'll come back to why that fails. First, three rules that are worth adopting regardless.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[22:45-23:45]</a:t>
            </a:r>
          </a:p>
          <a:p>
            <a:r>
              <a:rPr dirty="0"/>
              <a:t>Here is the architecture of the proposal: a ladder.</a:t>
            </a:r>
          </a:p>
          <a:p>
            <a:endParaRPr dirty="0"/>
          </a:p>
          <a:p>
            <a:r>
              <a:rPr dirty="0"/>
              <a:t>The point of presenting it as a ladder rather than a single proposal is political. Rung 0 is nearly</a:t>
            </a:r>
          </a:p>
          <a:p>
            <a:r>
              <a:rPr dirty="0"/>
              <a:t>costless and could be agreed at a COP tomorrow. Rung 1 is a minimum-integrity rule any buyer can</a:t>
            </a:r>
          </a:p>
          <a:p>
            <a:r>
              <a:rPr dirty="0"/>
              <a:t>adopt unilaterally. Rungs 2 and 3 are what a country with principles can do on its own, without</a:t>
            </a:r>
          </a:p>
          <a:p>
            <a:r>
              <a:rPr dirty="0"/>
              <a:t>anyone's permission. Rung 4 requires a genuine coalition and is the only one that actually closes</a:t>
            </a:r>
          </a:p>
          <a:p>
            <a:r>
              <a:rPr dirty="0"/>
              <a:t>the ambition gap.</a:t>
            </a:r>
          </a:p>
          <a:p>
            <a:endParaRPr dirty="0"/>
          </a:p>
          <a:p>
            <a:r>
              <a:rPr dirty="0"/>
              <a:t>So there's an on-ramp. You don't have to swallow the whole thing to start.</a:t>
            </a:r>
          </a:p>
          <a:p>
            <a:endParaRPr dirty="0"/>
          </a:p>
          <a:p>
            <a:r>
              <a:rPr dirty="0"/>
              <a:t>Let me take them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[23:45-25:00]</a:t>
            </a:r>
          </a:p>
          <a:p>
            <a:r>
              <a:rPr dirty="0"/>
              <a:t>Rung 0: </a:t>
            </a:r>
            <a:r>
              <a:rPr dirty="0" err="1"/>
              <a:t>harmonisation</a:t>
            </a:r>
            <a:r>
              <a:rPr dirty="0"/>
              <a:t>. The least exciting slide in the deck and the one without which nothing else</a:t>
            </a:r>
          </a:p>
          <a:p>
            <a:r>
              <a:rPr dirty="0"/>
              <a:t>works.</a:t>
            </a:r>
          </a:p>
          <a:p>
            <a:endParaRPr dirty="0"/>
          </a:p>
          <a:p>
            <a:r>
              <a:rPr dirty="0"/>
              <a:t>Right now a country chooses its own gas coverage, its own sectoral coverage, whether the target is</a:t>
            </a:r>
          </a:p>
          <a:p>
            <a:r>
              <a:rPr dirty="0"/>
              <a:t>absolute or intensity-based, and which global warming potentials it uses to convert methane into</a:t>
            </a:r>
          </a:p>
          <a:p>
            <a:r>
              <a:rPr dirty="0"/>
              <a:t>CO2-equivalent. The result: to answer the simple question 'what do the pledges add up to', a</a:t>
            </a:r>
          </a:p>
          <a:p>
            <a:r>
              <a:rPr dirty="0"/>
              <a:t>researcher has to make assumptions -- about GDP growth, about land-use emissions -- and different</a:t>
            </a:r>
          </a:p>
          <a:p>
            <a:r>
              <a:rPr dirty="0"/>
              <a:t>research teams get materially different numbers. There are at least seven independent trackers</a:t>
            </a:r>
          </a:p>
          <a:p>
            <a:r>
              <a:rPr dirty="0"/>
              <a:t>producing different estimates of the same pledges.</a:t>
            </a:r>
          </a:p>
          <a:p>
            <a:endParaRPr dirty="0"/>
          </a:p>
          <a:p>
            <a:r>
              <a:rPr dirty="0"/>
              <a:t>The fix is boring and technical: all Kyoto gases, all sectors reported separately, absolute targets</a:t>
            </a:r>
          </a:p>
          <a:p>
            <a:r>
              <a:rPr dirty="0"/>
              <a:t>in CO2-equivalent, one agreed conversion factor -- AR6 GWP100 -- and land use separated out. Ideally</a:t>
            </a:r>
          </a:p>
          <a:p>
            <a:r>
              <a:rPr dirty="0"/>
              <a:t>also a cumulative budget and a year-by-year path, plus a declaration of how much ITMO use you intend.</a:t>
            </a:r>
          </a:p>
          <a:p>
            <a:endParaRPr dirty="0"/>
          </a:p>
          <a:p>
            <a:r>
              <a:rPr dirty="0"/>
              <a:t>Why it's a precondition: every rule further up this ladder is a rule about whether a pledge is</a:t>
            </a:r>
          </a:p>
          <a:p>
            <a:r>
              <a:rPr dirty="0"/>
              <a:t>adequate. You cannot adjudicate adequacy on quantities that aren't commensurable.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[25:00-26:15]</a:t>
            </a:r>
          </a:p>
          <a:p>
            <a:r>
              <a:rPr dirty="0"/>
              <a:t>Rung 1. The sine qua non. A country may sell only the </a:t>
            </a:r>
            <a:r>
              <a:rPr dirty="0" err="1"/>
              <a:t>tonnes</a:t>
            </a:r>
            <a:r>
              <a:rPr dirty="0"/>
              <a:t> by which it is actually beating its own</a:t>
            </a:r>
          </a:p>
          <a:p>
            <a:r>
              <a:rPr dirty="0"/>
              <a:t>target.</a:t>
            </a:r>
          </a:p>
          <a:p>
            <a:endParaRPr dirty="0"/>
          </a:p>
          <a:p>
            <a:r>
              <a:rPr dirty="0"/>
              <a:t>If you're below your target, the difference is genuine spare room and you can sell it. If you're</a:t>
            </a:r>
          </a:p>
          <a:p>
            <a:r>
              <a:rPr dirty="0"/>
              <a:t>above your target -- if you are failing your own homework -- you have nothing to sell, and no</a:t>
            </a:r>
          </a:p>
          <a:p>
            <a:r>
              <a:rPr dirty="0"/>
              <a:t>principled buyer should touch it.</a:t>
            </a:r>
          </a:p>
          <a:p>
            <a:endParaRPr dirty="0"/>
          </a:p>
          <a:p>
            <a:r>
              <a:rPr dirty="0"/>
              <a:t>This sounds so obvious that people assume it's already the rule. It is not. Nothing in the Paris</a:t>
            </a:r>
          </a:p>
          <a:p>
            <a:r>
              <a:rPr dirty="0"/>
              <a:t>rulebook or the COP29 Article 6 decisions requires it. A country in breach of its own NDC can sell</a:t>
            </a:r>
          </a:p>
          <a:p>
            <a:r>
              <a:rPr dirty="0"/>
              <a:t>ITMOs today.</a:t>
            </a:r>
          </a:p>
          <a:p>
            <a:endParaRPr dirty="0"/>
          </a:p>
          <a:p>
            <a:r>
              <a:rPr dirty="0"/>
              <a:t>One important extension: it should also bite on countries that weakened a previous target. Angola is</a:t>
            </a:r>
          </a:p>
          <a:p>
            <a:r>
              <a:rPr dirty="0"/>
              <a:t>the example in the paper -- it revised its assumed business-as-usual upward by a factor of two in an</a:t>
            </a:r>
          </a:p>
          <a:p>
            <a:r>
              <a:rPr dirty="0"/>
              <a:t>updated NDC, which manufactures headroom without changing anything in the real world. The ratchet is</a:t>
            </a:r>
          </a:p>
          <a:p>
            <a:r>
              <a:rPr dirty="0"/>
              <a:t>supposed to prevent that; in practice nothing does.</a:t>
            </a:r>
          </a:p>
          <a:p>
            <a:endParaRPr dirty="0"/>
          </a:p>
          <a:p>
            <a:r>
              <a:rPr dirty="0"/>
              <a:t>Of all five rungs this is the one I'd expect to command near-universal agreement, and it's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[26:15-27:45]</a:t>
            </a:r>
          </a:p>
          <a:p>
            <a:r>
              <a:rPr dirty="0"/>
              <a:t>Rung 2 goes further: not just 'did you keep your promise', but 'was the promise worth making'.</a:t>
            </a:r>
          </a:p>
          <a:p>
            <a:endParaRPr dirty="0"/>
          </a:p>
          <a:p>
            <a:r>
              <a:rPr dirty="0"/>
              <a:t>Test A: is the target above business-as-usual? If meeting your pledge requires zero effort, it isn't</a:t>
            </a:r>
          </a:p>
          <a:p>
            <a:r>
              <a:rPr dirty="0"/>
              <a:t>a pledge, it's a forecast.</a:t>
            </a:r>
          </a:p>
          <a:p>
            <a:endParaRPr dirty="0"/>
          </a:p>
          <a:p>
            <a:r>
              <a:rPr dirty="0"/>
              <a:t>Test B is the more interesting one, and it's designed to be argument-proof. Compute two things for</a:t>
            </a:r>
          </a:p>
          <a:p>
            <a:r>
              <a:rPr dirty="0"/>
              <a:t>the country: its cost-optimal emissions under a 2-degree scenario, and its equal-per-capita share of</a:t>
            </a:r>
          </a:p>
          <a:p>
            <a:r>
              <a:rPr dirty="0"/>
              <a:t>a 2-degree budget. Those two numbers bracket essentially the entire space of defensible</a:t>
            </a:r>
          </a:p>
          <a:p>
            <a:r>
              <a:rPr dirty="0"/>
              <a:t>burden-sharing principles -- efficiency at one end, equality at the other. If a country's target</a:t>
            </a:r>
          </a:p>
          <a:p>
            <a:r>
              <a:rPr dirty="0"/>
              <a:t>exceeds BOTH, then there is no ethical position from which that target is adequate. You don't have to</a:t>
            </a:r>
          </a:p>
          <a:p>
            <a:r>
              <a:rPr dirty="0"/>
              <a:t>win the fairness argument; you only have to observe that the pledge loses under every version of it.</a:t>
            </a:r>
          </a:p>
          <a:p>
            <a:endParaRPr dirty="0"/>
          </a:p>
          <a:p>
            <a:r>
              <a:rPr dirty="0"/>
              <a:t>Because defining 'cost-optimal 2 degrees' requires choosing a model and a probability, there's a</a:t>
            </a:r>
          </a:p>
          <a:p>
            <a:r>
              <a:rPr dirty="0"/>
              <a:t>cruder proxy: refuse to buy from countries emitting more per person than the world average.</a:t>
            </a:r>
          </a:p>
          <a:p>
            <a:endParaRPr dirty="0"/>
          </a:p>
          <a:p>
            <a:r>
              <a:rPr dirty="0"/>
              <a:t>Now the honest caveat, in the gold box. Switzerland's deal with Thailand appears to pass all of</a:t>
            </a:r>
          </a:p>
          <a:p>
            <a:r>
              <a:rPr dirty="0"/>
              <a:t>these. By this standard Switzerland is a principled buyer. And yet the price is still too low --</a:t>
            </a:r>
          </a:p>
          <a:p>
            <a:r>
              <a:rPr dirty="0"/>
              <a:t>because the tests are about the seller, and the problem is global. These conditions are necessary.</a:t>
            </a:r>
          </a:p>
          <a:p>
            <a:r>
              <a:rPr dirty="0"/>
              <a:t>They are not sufficient. That gap is what rung 4 exists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[27:45-29:15]</a:t>
            </a:r>
          </a:p>
          <a:p>
            <a:r>
              <a:rPr dirty="0"/>
              <a:t>Rung 3 fixes a fairness problem created by rung 2.</a:t>
            </a:r>
          </a:p>
          <a:p>
            <a:endParaRPr dirty="0"/>
          </a:p>
          <a:p>
            <a:r>
              <a:rPr dirty="0"/>
              <a:t>Most developing countries file two targets. An unconditional one -- what we'll do on our own -- and a</a:t>
            </a:r>
          </a:p>
          <a:p>
            <a:r>
              <a:rPr dirty="0"/>
              <a:t>conditional one, which is more ambitious but applies only if the promised finance arrives. India, for</a:t>
            </a:r>
          </a:p>
          <a:p>
            <a:r>
              <a:rPr dirty="0"/>
              <a:t>example, is assessed as having set its unconditional 2030 target above business-as-usual. Under rung</a:t>
            </a:r>
          </a:p>
          <a:p>
            <a:r>
              <a:rPr dirty="0"/>
              <a:t>2 as stated, India would be excluded from selling. Is that right? Arguably not: low-income countries</a:t>
            </a:r>
          </a:p>
          <a:p>
            <a:r>
              <a:rPr dirty="0"/>
              <a:t>are already claiming less than their fair share. My own estimate is that the 2030 targets of Global</a:t>
            </a:r>
          </a:p>
          <a:p>
            <a:r>
              <a:rPr dirty="0"/>
              <a:t>South countries excluding China total 13.5 </a:t>
            </a:r>
            <a:r>
              <a:rPr dirty="0" err="1"/>
              <a:t>gigatonnes</a:t>
            </a:r>
            <a:r>
              <a:rPr dirty="0"/>
              <a:t>, which is 2.8 </a:t>
            </a:r>
            <a:r>
              <a:rPr dirty="0" err="1"/>
              <a:t>tonnes</a:t>
            </a:r>
            <a:r>
              <a:rPr dirty="0"/>
              <a:t> per person -- already</a:t>
            </a:r>
          </a:p>
          <a:p>
            <a:r>
              <a:rPr dirty="0"/>
              <a:t>below an equal-per-capita Paris-aligned level.</a:t>
            </a:r>
          </a:p>
          <a:p>
            <a:endParaRPr dirty="0"/>
          </a:p>
          <a:p>
            <a:r>
              <a:rPr dirty="0"/>
              <a:t>So the rule: assess the seller against its conditional target once the finance it asked for has</a:t>
            </a:r>
          </a:p>
          <a:p>
            <a:r>
              <a:rPr dirty="0"/>
              <a:t>actually been delivered. Two design details matter.</a:t>
            </a:r>
          </a:p>
          <a:p>
            <a:endParaRPr dirty="0"/>
          </a:p>
          <a:p>
            <a:r>
              <a:rPr dirty="0"/>
              <a:t>One: only grants and grant-equivalent finance count -- not loans, given that only 26 of the current</a:t>
            </a:r>
          </a:p>
          <a:p>
            <a:r>
              <a:rPr dirty="0"/>
              <a:t>100 billion arrives as grants.</a:t>
            </a:r>
          </a:p>
          <a:p>
            <a:endParaRPr dirty="0"/>
          </a:p>
          <a:p>
            <a:r>
              <a:rPr dirty="0"/>
              <a:t>Two: only 'unidirectional' finance counts, meaning money that isn't itself ITMO revenue. Otherwise a</a:t>
            </a:r>
          </a:p>
          <a:p>
            <a:r>
              <a:rPr dirty="0"/>
              <a:t>buyer pays once and claims the payment twice -- once as finance, once as credits.</a:t>
            </a:r>
          </a:p>
          <a:p>
            <a:endParaRPr dirty="0"/>
          </a:p>
          <a:p>
            <a:r>
              <a:rPr dirty="0"/>
              <a:t>What this does structurally is turn market access into leverage. A buyer that wants to purchase must</a:t>
            </a:r>
          </a:p>
          <a:p>
            <a:r>
              <a:rPr dirty="0"/>
              <a:t>first pay for genuine ambition. And note that sellers could </a:t>
            </a:r>
            <a:r>
              <a:rPr dirty="0" err="1"/>
              <a:t>organise</a:t>
            </a:r>
            <a:r>
              <a:rPr dirty="0"/>
              <a:t>: a bloc of low emitters holds</a:t>
            </a:r>
          </a:p>
          <a:p>
            <a:r>
              <a:rPr dirty="0"/>
              <a:t>real market power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[29:15-30:45]</a:t>
            </a:r>
          </a:p>
          <a:p>
            <a:r>
              <a:rPr dirty="0"/>
              <a:t>Now the pivot of the argument. Rungs 1 to 3 are all worth having, but none of them closes the gap.</a:t>
            </a:r>
          </a:p>
          <a:p>
            <a:r>
              <a:rPr dirty="0"/>
              <a:t>Two reasons, and the second one is the more interesting.</a:t>
            </a:r>
          </a:p>
          <a:p>
            <a:endParaRPr dirty="0"/>
          </a:p>
          <a:p>
            <a:r>
              <a:rPr dirty="0"/>
              <a:t>Ineffective: suppose every seller now has a target below its own business-as-usual. Fine. The targets</a:t>
            </a:r>
          </a:p>
          <a:p>
            <a:r>
              <a:rPr dirty="0"/>
              <a:t>can still sum to more than the planet's budget. Nothing in a country-by-country test constrains the</a:t>
            </a:r>
          </a:p>
          <a:p>
            <a:r>
              <a:rPr dirty="0"/>
              <a:t>global sum. So the gap persists, the price stays low, and buyers keep substituting paper for</a:t>
            </a:r>
          </a:p>
          <a:p>
            <a:r>
              <a:rPr dirty="0"/>
              <a:t>transformation.</a:t>
            </a:r>
          </a:p>
          <a:p>
            <a:endParaRPr dirty="0"/>
          </a:p>
          <a:p>
            <a:r>
              <a:rPr dirty="0"/>
              <a:t>Unfair, and this is the point I most want to defend, because it cuts against the intuition that</a:t>
            </a:r>
          </a:p>
          <a:p>
            <a:r>
              <a:rPr dirty="0"/>
              <a:t>"below business-as-usual" is obviously the right test.</a:t>
            </a:r>
          </a:p>
          <a:p>
            <a:endParaRPr dirty="0"/>
          </a:p>
          <a:p>
            <a:r>
              <a:rPr dirty="0"/>
              <a:t>A low-emitting country may legitimately set its target ABOVE its own baseline. That sounds like</a:t>
            </a:r>
          </a:p>
          <a:p>
            <a:r>
              <a:rPr dirty="0"/>
              <a:t>cheating. It is not. Business-as-usual is a forecast of what a country would emit while it is still</a:t>
            </a:r>
          </a:p>
          <a:p>
            <a:r>
              <a:rPr dirty="0"/>
              <a:t>poor. Freezing a country at that level, and calling anything above it illegitimate, converts current</a:t>
            </a:r>
          </a:p>
          <a:p>
            <a:r>
              <a:rPr dirty="0"/>
              <a:t>poverty into a permanent emissions ceiling. A country that is </a:t>
            </a:r>
            <a:r>
              <a:rPr dirty="0" err="1"/>
              <a:t>industrialising</a:t>
            </a:r>
            <a:r>
              <a:rPr dirty="0"/>
              <a:t>, electrifying,</a:t>
            </a:r>
          </a:p>
          <a:p>
            <a:r>
              <a:rPr dirty="0"/>
              <a:t>extending its grid, will emit more than its baseline -- and it may still be claiming far less</a:t>
            </a:r>
          </a:p>
          <a:p>
            <a:r>
              <a:rPr dirty="0"/>
              <a:t>atmosphere than any fair rule would grant it.</a:t>
            </a:r>
          </a:p>
          <a:p>
            <a:endParaRPr dirty="0"/>
          </a:p>
          <a:p>
            <a:r>
              <a:rPr dirty="0"/>
              <a:t>The numbers make this concrete. Add up the 2030 targets of the Global South excluding China and you</a:t>
            </a:r>
          </a:p>
          <a:p>
            <a:r>
              <a:rPr dirty="0"/>
              <a:t>get 13.5 </a:t>
            </a:r>
            <a:r>
              <a:rPr dirty="0" err="1"/>
              <a:t>gigatonnes</a:t>
            </a:r>
            <a:r>
              <a:rPr dirty="0"/>
              <a:t>: 2.8 </a:t>
            </a:r>
            <a:r>
              <a:rPr dirty="0" err="1"/>
              <a:t>tonnes</a:t>
            </a:r>
            <a:r>
              <a:rPr dirty="0"/>
              <a:t> per person. An equal-per-capita Paris-aligned level is above that.</a:t>
            </a:r>
          </a:p>
          <a:p>
            <a:r>
              <a:rPr dirty="0"/>
              <a:t>So as a bloc they are already asking for less than their share -- and a rule keyed to national</a:t>
            </a:r>
          </a:p>
          <a:p>
            <a:r>
              <a:rPr dirty="0"/>
              <a:t>baselines would exclude some of them from selling for the offence of planning to develop.</a:t>
            </a:r>
          </a:p>
          <a:p>
            <a:endParaRPr dirty="0"/>
          </a:p>
          <a:p>
            <a:r>
              <a:rPr dirty="0"/>
              <a:t>Which is why the ratcheting has to be borne by </a:t>
            </a:r>
            <a:r>
              <a:rPr dirty="0" err="1"/>
              <a:t>industrialised</a:t>
            </a:r>
            <a:r>
              <a:rPr dirty="0"/>
              <a:t> countries, and why the test cannot be</a:t>
            </a:r>
          </a:p>
          <a:p>
            <a:r>
              <a:rPr dirty="0"/>
              <a:t>national. [Example: India is assessed as having set its unconditional 2030 target above BAU.]</a:t>
            </a:r>
          </a:p>
          <a:p>
            <a:endParaRPr dirty="0"/>
          </a:p>
          <a:p>
            <a:r>
              <a:rPr dirty="0"/>
              <a:t>Hence the black bar. Business-as-usual only means something at a scale where there's consensus that</a:t>
            </a:r>
          </a:p>
          <a:p>
            <a:r>
              <a:rPr dirty="0"/>
              <a:t>business-as-usual is inadequate. That's true of the world. It is not true of any individual country.</a:t>
            </a:r>
          </a:p>
          <a:p>
            <a:endParaRPr dirty="0"/>
          </a:p>
          <a:p>
            <a:r>
              <a:rPr dirty="0"/>
              <a:t>So: change the unit of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[30:45-32:00]</a:t>
            </a:r>
          </a:p>
          <a:p>
            <a:r>
              <a:rPr dirty="0"/>
              <a:t>Rung 4. The proposal.</a:t>
            </a:r>
          </a:p>
          <a:p>
            <a:endParaRPr dirty="0"/>
          </a:p>
          <a:p>
            <a:r>
              <a:rPr dirty="0"/>
              <a:t>A coalition of willing countries submits one joint NDC, aligned with the Paris target, and commits to</a:t>
            </a:r>
          </a:p>
          <a:p>
            <a:r>
              <a:rPr dirty="0"/>
              <a:t>exchanging ITMOs only among themselves.</a:t>
            </a:r>
          </a:p>
          <a:p>
            <a:endParaRPr dirty="0"/>
          </a:p>
          <a:p>
            <a:r>
              <a:rPr dirty="0"/>
              <a:t>Two design choices, and both are load-bearing.</a:t>
            </a:r>
          </a:p>
          <a:p>
            <a:endParaRPr dirty="0"/>
          </a:p>
          <a:p>
            <a:r>
              <a:rPr dirty="0"/>
              <a:t>Joint pledge: this moves the unit of assessment from the country to the coalition. Now the question</a:t>
            </a:r>
          </a:p>
          <a:p>
            <a:r>
              <a:rPr dirty="0"/>
              <a:t>'is this ambitious enough' has a well-posed answer -- does the coalition's total trajectory fit</a:t>
            </a:r>
          </a:p>
          <a:p>
            <a:r>
              <a:rPr dirty="0"/>
              <a:t>inside a Paris-aligned carbon budget? That's arithmetic, not ethics. You've replaced an unresolvable</a:t>
            </a:r>
          </a:p>
          <a:p>
            <a:r>
              <a:rPr dirty="0"/>
              <a:t>fairness argument with a checkable constraint.</a:t>
            </a:r>
          </a:p>
          <a:p>
            <a:endParaRPr dirty="0"/>
          </a:p>
          <a:p>
            <a:r>
              <a:rPr dirty="0"/>
              <a:t>Closed market: this is the part people resist, so let me justify it. If members could trade with</a:t>
            </a:r>
          </a:p>
          <a:p>
            <a:r>
              <a:rPr dirty="0"/>
              <a:t>outsiders holding loose pledges, hot air flows straight back in and the internal price collapses to</a:t>
            </a:r>
          </a:p>
          <a:p>
            <a:r>
              <a:rPr dirty="0"/>
              <a:t>the world price. The boundary isn't protectionism; it's what makes the internal carbon price</a:t>
            </a:r>
          </a:p>
          <a:p>
            <a:r>
              <a:rPr dirty="0"/>
              <a:t>meaningful. It's the same logic by which the EU ETS limits external credits.</a:t>
            </a:r>
          </a:p>
          <a:p>
            <a:endParaRPr dirty="0"/>
          </a:p>
          <a:p>
            <a:r>
              <a:rPr dirty="0"/>
              <a:t>And here's the pay-off: once the coalition's total is Paris-aligned, ambition is guaranteed by</a:t>
            </a:r>
          </a:p>
          <a:p>
            <a:r>
              <a:rPr dirty="0"/>
              <a:t>construction. Members can then trade completely freely among themselves -- no </a:t>
            </a:r>
            <a:r>
              <a:rPr dirty="0" err="1"/>
              <a:t>additionality</a:t>
            </a:r>
            <a:r>
              <a:rPr dirty="0"/>
              <a:t> audits,</a:t>
            </a:r>
          </a:p>
          <a:p>
            <a:r>
              <a:rPr dirty="0"/>
              <a:t>no quantity caps, no baseline arguments. All that machinery becomes unnecessary. The constraint does</a:t>
            </a:r>
          </a:p>
          <a:p>
            <a:r>
              <a:rPr dirty="0"/>
              <a:t>the work.</a:t>
            </a:r>
          </a:p>
          <a:p>
            <a:endParaRPr dirty="0"/>
          </a:p>
          <a:p>
            <a:r>
              <a:rPr dirty="0"/>
              <a:t>Not science fiction, by the way: the EU already does exactly this for 27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[32:00-33:45]</a:t>
            </a:r>
          </a:p>
          <a:p>
            <a:r>
              <a:t>Four design decisions. This is where the proposal becomes concrete enough to negotiate.</a:t>
            </a:r>
          </a:p>
          <a:p>
            <a:endParaRPr/>
          </a:p>
          <a:p>
            <a:r>
              <a:t>One, the budget. My proposed benchmark: an equal-per-capita share of a global budget giving a 75</a:t>
            </a:r>
          </a:p>
          <a:p>
            <a:r>
              <a:t>percent chance of staying under 2 degrees. That specific formulation is a compromise -- and I want to</a:t>
            </a:r>
          </a:p>
          <a:p>
            <a:r>
              <a:t>flag the tension honestly. The countries most likely to join a coalition like this are moderate</a:t>
            </a:r>
          </a:p>
          <a:p>
            <a:r>
              <a:t>emitters. If you set the budget cost-optimally, you favour large emitters who stayed outside. If you</a:t>
            </a:r>
          </a:p>
          <a:p>
            <a:r>
              <a:t>set it egalitarian, it may not be demanding enough for the members. Roughly equivalent alternatives:</a:t>
            </a:r>
          </a:p>
          <a:p>
            <a:r>
              <a:t>a cost-optimal share of a 1.9-degree budget at 50 percent, or an equal-per-capita share of a</a:t>
            </a:r>
          </a:p>
          <a:p>
            <a:r>
              <a:t>1.8-degree budget at 50 percent. For a coalition of China, the Global South, Europe and Japan all</a:t>
            </a:r>
          </a:p>
          <a:p>
            <a:r>
              <a:t>three land near 750 gigatonnes over 2026 to 2100.</a:t>
            </a:r>
          </a:p>
          <a:p>
            <a:endParaRPr/>
          </a:p>
          <a:p>
            <a:r>
              <a:t>Two, the trajectory. Deliberately gentle at the start: 2026 equals current emissions, 2027 slightly</a:t>
            </a:r>
          </a:p>
          <a:p>
            <a:r>
              <a:t>below baseline, and the wedge widens each year. Nobody faces a cliff on day one. Politically this</a:t>
            </a:r>
          </a:p>
          <a:p>
            <a:r>
              <a:t>matters more than it sounds.</a:t>
            </a:r>
          </a:p>
          <a:p>
            <a:endParaRPr/>
          </a:p>
          <a:p>
            <a:r>
              <a:t>Three, the allocation. Start from a focal point -- each country gets the minimum of three numbers:</a:t>
            </a:r>
          </a:p>
          <a:p>
            <a:r>
              <a:t>its projected emissions, its existing pledge, and its equal-per-capita share. The minimum, because to</a:t>
            </a:r>
          </a:p>
          <a:p>
            <a:r>
              <a:t>ratchet up nobody should get more than what they'd emit anyway, more than they promised, or more than</a:t>
            </a:r>
          </a:p>
          <a:p>
            <a:r>
              <a:t>their fair share. Then redistribute extra room toward the poorest and the hardest-hit. And note the</a:t>
            </a:r>
          </a:p>
          <a:p>
            <a:r>
              <a:t>focal point does real work: it gives negotiators a default to argue away from, rather than a blank</a:t>
            </a:r>
          </a:p>
          <a:p>
            <a:r>
              <a:t>page.</a:t>
            </a:r>
          </a:p>
          <a:p>
            <a:endParaRPr/>
          </a:p>
          <a:p>
            <a:r>
              <a:t>Four, governance. A scientific council, with every member entitled to nominate a team, and</a:t>
            </a:r>
          </a:p>
          <a:p>
            <a:r>
              <a:t>population-weighted voting when the teams disagree. That last detail is deliberate -- it means the</a:t>
            </a:r>
          </a:p>
          <a:p>
            <a:r>
              <a:t>technical body isn't captured by whoever has the biggest modelling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[33:45-35:00]</a:t>
            </a:r>
          </a:p>
          <a:p>
            <a:r>
              <a:t>Feasibility, since that's the first objection.</a:t>
            </a:r>
          </a:p>
          <a:p>
            <a:endParaRPr/>
          </a:p>
          <a:p>
            <a:r>
              <a:t>One: coalitions beat consensus. The UNFCCC requires consensus, which means it produces the lowest</a:t>
            </a:r>
          </a:p>
          <a:p>
            <a:r>
              <a:t>common denominator by construction. A coalition of the willing simply doesn't have that constraint.</a:t>
            </a:r>
          </a:p>
          <a:p>
            <a:r>
              <a:t>This is the standard argument for minilateralism and I think it's right.</a:t>
            </a:r>
          </a:p>
          <a:p>
            <a:endParaRPr/>
          </a:p>
          <a:p>
            <a:r>
              <a:t>Two: public opinion. There's now a substantial body of survey evidence -- including work I've been</a:t>
            </a:r>
          </a:p>
          <a:p>
            <a:r>
              <a:t>involved in -- showing majority support for international climate policies across many countries,</a:t>
            </a:r>
          </a:p>
          <a:p>
            <a:r>
              <a:t>including when respondents are told the personal cost. Governments are more cautious than their</a:t>
            </a:r>
          </a:p>
          <a:p>
            <a:r>
              <a:t>electorates on this.</a:t>
            </a:r>
          </a:p>
          <a:p>
            <a:endParaRPr/>
          </a:p>
          <a:p>
            <a:r>
              <a:t>Three: no new treaty required. This is all inside Article 6.2 of the Paris Agreement. It doesn't</a:t>
            </a:r>
          </a:p>
          <a:p>
            <a:r>
              <a:t>replace CBDR, it operationalises it -- it's what CBDR looks like when a subset of countries actually</a:t>
            </a:r>
          </a:p>
          <a:p>
            <a:r>
              <a:t>agrees on a number.</a:t>
            </a:r>
          </a:p>
          <a:p>
            <a:endParaRPr/>
          </a:p>
          <a:p>
            <a:r>
              <a:t>Four, and this is the one that changed my own assessment: at COP30 two relevant coalitions launched.</a:t>
            </a:r>
          </a:p>
          <a:p>
            <a:r>
              <a:t>The Open Coalition on Compliance Carbon Markets already includes China, the EU and Brazil plus</a:t>
            </a:r>
          </a:p>
          <a:p>
            <a:r>
              <a:t>fifteen others. And the Article 6 Ambition Alliance -- ten countries including Switzerland, Norway</a:t>
            </a:r>
          </a:p>
          <a:p>
            <a:r>
              <a:t>and Germany -- who intend to finance emission reductions abroad without counting them toward their</a:t>
            </a:r>
          </a:p>
          <a:p>
            <a:r>
              <a:t>own NDCs. That second one is voluntarily giving up exactly the loophole I've been describing. The</a:t>
            </a:r>
          </a:p>
          <a:p>
            <a:r>
              <a:t>appetite exists.</a:t>
            </a:r>
          </a:p>
          <a:p>
            <a:endParaRPr/>
          </a:p>
          <a:p>
            <a:r>
              <a:t>Bottom of the slide: accession. New members can propose a reallocation, decided by majority, subject</a:t>
            </a:r>
          </a:p>
          <a:p>
            <a:r>
              <a:t>to two guardrails -- coverage must not shrink, and the projected ITMO price must not fall. That price</a:t>
            </a:r>
          </a:p>
          <a:p>
            <a:r>
              <a:t>condition is elegant, I think: a falling price is a measurable signal that ambition has been diluted.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[35:00]</a:t>
            </a:r>
          </a:p>
          <a:p>
            <a:r>
              <a:t>Part 4, and I'll go faster. The honest test of a proposal is not whether it's good in isolation but</a:t>
            </a:r>
          </a:p>
          <a:p>
            <a:r>
              <a:t>whether it beats the alternatives. Five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[35:15-37:00]</a:t>
            </a:r>
          </a:p>
          <a:p>
            <a:r>
              <a:t>Before the alternatives proper, one recent proposal I want to highlight, because it is the closest</a:t>
            </a:r>
          </a:p>
          <a:p>
            <a:r>
              <a:t>thing to an ally that this paper has. Georg Zachmann and Annabelle Weisser, Bruegel, July 2026.</a:t>
            </a:r>
          </a:p>
          <a:p>
            <a:endParaRPr/>
          </a:p>
          <a:p>
            <a:r>
              <a:t>Their starting point is the EU's predicament. The EU has gone from 15% of global emissions in 1990 to</a:t>
            </a:r>
          </a:p>
          <a:p>
            <a:r>
              <a:t>6% in 2024. However hard it cuts domestically, it can no longer move the global number on its own. So</a:t>
            </a:r>
          </a:p>
          <a:p>
            <a:r>
              <a:t>it has to make its money work outside its borders -- and Article 6 is the channel available.</a:t>
            </a:r>
          </a:p>
          <a:p>
            <a:endParaRPr/>
          </a:p>
          <a:p>
            <a:r>
              <a:t>THE THREE MOVES.</a:t>
            </a:r>
          </a:p>
          <a:p>
            <a:endParaRPr/>
          </a:p>
          <a:p>
            <a:r>
              <a:t>One: issue credits at national level rather than project by project. Same instinct as this paper --</a:t>
            </a:r>
          </a:p>
          <a:p>
            <a:r>
              <a:t>the project-level additionality audit is what discredited the Clean Development Mechanism, and you</a:t>
            </a:r>
          </a:p>
          <a:p>
            <a:r>
              <a:t>escape it by moving up to the country.</a:t>
            </a:r>
          </a:p>
          <a:p>
            <a:endParaRPr/>
          </a:p>
          <a:p>
            <a:r>
              <a:t>Two: let firms buy rather than governments. Government purchases of foreign credits with public money</a:t>
            </a:r>
          </a:p>
          <a:p>
            <a:r>
              <a:t>look like a subsidy to foreigners and are easy to attack. Compliance demand from firms is far more</a:t>
            </a:r>
          </a:p>
          <a:p>
            <a:r>
              <a:t>durable.</a:t>
            </a:r>
          </a:p>
          <a:p>
            <a:endParaRPr/>
          </a:p>
          <a:p>
            <a:r>
              <a:t>Three, the clever one: leverage ratios. Instead of one tonne abroad cancelling one tonne at home,</a:t>
            </a:r>
          </a:p>
          <a:p>
            <a:r>
              <a:t>require five. Across the OECD that gives roughly 33.75 Gt of mitigation bought abroad against 6.75 Gt</a:t>
            </a:r>
          </a:p>
          <a:p>
            <a:r>
              <a:t>of offsetting at home -- 27 Gt net, about a fifth of the global emissions gap.</a:t>
            </a:r>
          </a:p>
          <a:p>
            <a:endParaRPr/>
          </a:p>
          <a:p>
            <a:r>
              <a:t>WHAT IT TAKES TO IMPLEMENT. Three pieces, and they interlock. Take them in order.</a:t>
            </a:r>
          </a:p>
          <a:p>
            <a:endParaRPr/>
          </a:p>
          <a:p>
            <a:r>
              <a:t>ONE, the mitigation value. The core insight: a credit is not worth a tonne just because it says so.</a:t>
            </a:r>
          </a:p>
          <a:p>
            <a:r>
              <a:t>What it is worth is the seller country's actual overachievement of its baseline, divided by the</a:t>
            </a:r>
          </a:p>
          <a:p>
            <a:r>
              <a:t>credits it sold. Worked example on the slide: a country sells 5 ITMOs, but its emissions came in only</a:t>
            </a:r>
          </a:p>
          <a:p>
            <a:r>
              <a:t>3 units below its baseline. Then each credit carries 3/5 = 0.6 of a tonne of real mitigation. Notice</a:t>
            </a:r>
          </a:p>
          <a:p>
            <a:r>
              <a:t>what this does -- it makes the seller's aggregate performance, not the project paperwork, the thing</a:t>
            </a:r>
          </a:p>
          <a:p>
            <a:r>
              <a:t>that determines value. Over-issue relative to what you actually deliver and you devalue your own</a:t>
            </a:r>
          </a:p>
          <a:p>
            <a:r>
              <a:t>currency. That is a genuinely elegant incentive.</a:t>
            </a:r>
          </a:p>
          <a:p>
            <a:endParaRPr/>
          </a:p>
          <a:p>
            <a:r>
              <a:t>TWO, the Carbon Credits Clearing House. It solves a timing problem: the mitigation value is only</a:t>
            </a:r>
          </a:p>
          <a:p>
            <a:r>
              <a:t>known at the end, in 2040, but firms need to comply every year before then. So the CCCH lets a firm</a:t>
            </a:r>
          </a:p>
          <a:p>
            <a:r>
              <a:t>post foreign credits as collateral and borrow domestic allowances against them, which it can surrender</a:t>
            </a:r>
          </a:p>
          <a:p>
            <a:r>
              <a:t>immediately. The exchange rate is the leverage ratio divided by the mitigation value. On the slide: at</a:t>
            </a:r>
          </a:p>
          <a:p>
            <a:r>
              <a:t>1:5 leverage with a value of 0.6, you need 5 divided by 0.6 -- 8.33 ITMOs -- to obtain one EU</a:t>
            </a:r>
          </a:p>
          <a:p>
            <a:r>
              <a:t>allowance. Provisional now, settled in 2040: guess right and you get allowances back, guess wrong and</a:t>
            </a:r>
          </a:p>
          <a:p>
            <a:r>
              <a:t>you take the loss.</a:t>
            </a:r>
          </a:p>
          <a:p>
            <a:endParaRPr/>
          </a:p>
          <a:p>
            <a:r>
              <a:t>THREE, the Carbon Buyers' Club. This is the governance layer. Buyer countries coordinate high</a:t>
            </a:r>
          </a:p>
          <a:p>
            <a:r>
              <a:t>compliance standards -- so nobody undercuts by accepting weaker credits -- and, crucially, they fix</a:t>
            </a:r>
          </a:p>
          <a:p>
            <a:r>
              <a:t>each seller's baseline. And note what that means: the baseline is the whole ballgame, because the</a:t>
            </a:r>
          </a:p>
          <a:p>
            <a:r>
              <a:t>mitigation value is measured against it. Set it generously and everything downstream inflates. So the</a:t>
            </a:r>
          </a:p>
          <a:p>
            <a:r>
              <a:t>Club has to choose a burden-sharing rule -- equal per capita, historical responsibility, something</a:t>
            </a:r>
          </a:p>
          <a:p>
            <a:r>
              <a:t>else. Which is exactly the question from Part 1 that the UNFCCC never resolved. They have not escaped</a:t>
            </a:r>
          </a:p>
          <a:p>
            <a:r>
              <a:t>it; they have relocated it to a smaller room where it might actually get answered.</a:t>
            </a:r>
          </a:p>
          <a:p>
            <a:endParaRPr/>
          </a:p>
          <a:p>
            <a:r>
              <a:t>MY ASSESSMENT. Same diagnosis as mine -- unregulated one-for-one trading transmits laxity -- and a</a:t>
            </a:r>
          </a:p>
          <a:p>
            <a:r>
              <a:t>complementary fix. The leverage ratio corrects the price directly, without first getting the world's</a:t>
            </a:r>
          </a:p>
          <a:p>
            <a:r>
              <a:t>pledges to add up. Mine corrects the quantity, by fixing a joint budget. And their Buyers' Club,</a:t>
            </a:r>
          </a:p>
          <a:p>
            <a:r>
              <a:t>setting standards and baselines for a group of committed buyers, is very nearly my coalition under</a:t>
            </a:r>
          </a:p>
          <a:p>
            <a:r>
              <a:t>another name.</a:t>
            </a:r>
          </a:p>
          <a:p>
            <a:endParaRPr/>
          </a:p>
          <a:p>
            <a:r>
              <a:t>Where I'd push back: the multiplier is set administratively rather than derived from a carbon budget,</a:t>
            </a:r>
          </a:p>
          <a:p>
            <a:r>
              <a:t>so it can be bargained down; and the ten-year settlement lag puts real balance-sheet risk on private</a:t>
            </a:r>
          </a:p>
          <a:p>
            <a:r>
              <a:t>buyers, which may simply suppress the demand the scheme depends on. But this is the debate I want to</a:t>
            </a:r>
          </a:p>
          <a:p>
            <a:r>
              <a:t>be having.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[35:20-36:50]</a:t>
            </a:r>
          </a:p>
          <a:p>
            <a:r>
              <a:t>Alternative one, and it's the most respectable competitor: differentiated carbon price floors. Parry</a:t>
            </a:r>
          </a:p>
          <a:p>
            <a:r>
              <a:t>and co-authors; more recently Wolfram and co-authors. Every country prices carbon domestically and</a:t>
            </a:r>
          </a:p>
          <a:p>
            <a:r>
              <a:t>keeps the money; the minimum price depends on income -- 75, 50, 25 dollars.</a:t>
            </a:r>
          </a:p>
          <a:p>
            <a:endParaRPr/>
          </a:p>
          <a:p>
            <a:r>
              <a:t>Why differentiate at all? There are four legitimate theoretical reasons -- differing discount rates</a:t>
            </a:r>
          </a:p>
          <a:p>
            <a:r>
              <a:t>across countries, pre-existing distortive taxes, terms-of-trade effects, and the assumption that</a:t>
            </a:r>
          </a:p>
          <a:p>
            <a:r>
              <a:t>transfers are politically impossible. That fourth one does most of the actual work. Bauer and</a:t>
            </a:r>
          </a:p>
          <a:p>
            <a:r>
              <a:t>colleagues call it the efficiency-sovereignty trade-off.</a:t>
            </a:r>
          </a:p>
          <a:p>
            <a:endParaRPr/>
          </a:p>
          <a:p>
            <a:r>
              <a:t>The Wolfram variant restricts it to carbon-intensive manufacturing with a coalition border tax. Its</a:t>
            </a:r>
          </a:p>
          <a:p>
            <a:r>
              <a:t>problems: global CO2 falls about 2 percent. And the political bargain is that the EU abandons its</a:t>
            </a:r>
          </a:p>
          <a:p>
            <a:r>
              <a:t>CBAM in exchange for China pricing its manufacturing emissions -- but China is about 70 percent of</a:t>
            </a:r>
          </a:p>
          <a:p>
            <a:r>
              <a:t>covered emissions and has given no indication it will accept 50 dollars a tonne. So it's a small</a:t>
            </a:r>
          </a:p>
          <a:p>
            <a:r>
              <a:t>effect contingent on an unlikely concession.</a:t>
            </a:r>
          </a:p>
          <a:p>
            <a:endParaRPr/>
          </a:p>
          <a:p>
            <a:r>
              <a:t>But here's the argument I'd most like to leave you with on this slide. There is a distributional</a:t>
            </a:r>
          </a:p>
          <a:p>
            <a:r>
              <a:t>equivalence result: any allocation of costs and benefits achieved by differentiated prices can be</a:t>
            </a:r>
          </a:p>
          <a:p>
            <a:r>
              <a:t>replicated by a uniform price plus an appropriate allocation of emission rights -- with the same or</a:t>
            </a:r>
          </a:p>
          <a:p>
            <a:r>
              <a:t>greater emission reductions, and without the efficiency loss. Which means the choice of differentiated</a:t>
            </a:r>
          </a:p>
          <a:p>
            <a:r>
              <a:t>prices isn't really a choice about fairness at all. It's the same distribution, reached more</a:t>
            </a:r>
          </a:p>
          <a:p>
            <a:r>
              <a:t>expensively. Governments who say 'transfers are impossible' should notice they're already accepting</a:t>
            </a:r>
          </a:p>
          <a:p>
            <a:r>
              <a:t>the distributional consequences of transfers; they're just paying extra to avoid the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[36:50-38:00]</a:t>
            </a:r>
          </a:p>
          <a:p>
            <a:r>
              <a:t>Two more, quickly.</a:t>
            </a:r>
          </a:p>
          <a:p>
            <a:endParaRPr/>
          </a:p>
          <a:p>
            <a:r>
              <a:t>A genuine global cap-and-trade with revenue shared roughly per capita. Intellectually this is the</a:t>
            </a:r>
          </a:p>
          <a:p>
            <a:r>
              <a:t>cleanest answer -- it's been proposed since Grubb in 1990. It guarantees the total, and it prices</a:t>
            </a:r>
          </a:p>
          <a:p>
            <a:r>
              <a:t>firms directly rather than relying on governments to pass the right laws afterwards, which is a real</a:t>
            </a:r>
          </a:p>
          <a:p>
            <a:r>
              <a:t>advantage over the NDC system. It also polls well. Its obstacle is sovereignty: key governments won't</a:t>
            </a:r>
          </a:p>
          <a:p>
            <a:r>
              <a:t>hand over the cap.</a:t>
            </a:r>
          </a:p>
          <a:p>
            <a:endParaRPr/>
          </a:p>
          <a:p>
            <a:r>
              <a:t>Climate clubs and refunding clubs: reward countries pricing above a benchmark, penalise those below.</a:t>
            </a:r>
          </a:p>
          <a:p>
            <a:r>
              <a:t>Three difficulties. Rewards can flow to rich low-emitters like Norway, which is perverse. Enforcement</a:t>
            </a:r>
          </a:p>
          <a:p>
            <a:r>
              <a:t>relies on countries consenting to be penalised. And refunding clubs need an up-front fund -- Finus</a:t>
            </a:r>
          </a:p>
          <a:p>
            <a:r>
              <a:t>and co-authors estimate 2.6 trillion dollars, 0.3 percent of world GDP over ten years, to stabilise</a:t>
            </a:r>
          </a:p>
          <a:p>
            <a:r>
              <a:t>the grand coalition. That could in principle be raised -- a 2 percent billionaire wealth tax would do</a:t>
            </a:r>
          </a:p>
          <a:p>
            <a:r>
              <a:t>it -- but persuading governments to make an up-front payment of that size is a hard sell.</a:t>
            </a:r>
          </a:p>
          <a:p>
            <a:endParaRPr/>
          </a:p>
          <a:p>
            <a:r>
              <a:t>The bottom bar is how I'd position my own proposal: it targets the efficiency and fairness of a</a:t>
            </a:r>
          </a:p>
          <a:p>
            <a:r>
              <a:t>redistributive cap-and-trade, but leaves countries free to choose their own domestic instruments.</a:t>
            </a:r>
          </a:p>
          <a:p>
            <a:r>
              <a:t>It's the cap-and-trade result reached through the Paris architecture instead of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[38:00-39:00]</a:t>
            </a:r>
          </a:p>
          <a:p>
            <a:r>
              <a:t>Last alternative, and I want to be careful because it's the one with the most public support: the</a:t>
            </a:r>
          </a:p>
          <a:p>
            <a:r>
              <a:t>fossil fuel non-proliferation treaty. A million individual signatories, four thousand organisations,</a:t>
            </a:r>
          </a:p>
          <a:p>
            <a:r>
              <a:t>101 Nobel laureates. The associated plan sets country-by-country extraction end dates, later for</a:t>
            </a:r>
          </a:p>
          <a:p>
            <a:r>
              <a:t>poorer and more fossil-dependent countries.</a:t>
            </a:r>
          </a:p>
          <a:p>
            <a:endParaRPr/>
          </a:p>
          <a:p>
            <a:r>
              <a:t>Three objections, in increasing order of seriousness.</a:t>
            </a:r>
          </a:p>
          <a:p>
            <a:endParaRPr/>
          </a:p>
          <a:p>
            <a:r>
              <a:t>First, it requires the participation of fossil fuel exporters -- structurally, the countries least</a:t>
            </a:r>
          </a:p>
          <a:p>
            <a:r>
              <a:t>inclined to act on climate. You're asking the people holding the asset to agree to strand it.</a:t>
            </a:r>
          </a:p>
          <a:p>
            <a:endParaRPr/>
          </a:p>
          <a:p>
            <a:r>
              <a:t>Second, and this is the one that gets least attention: restricting supply rather than demand raises</a:t>
            </a:r>
          </a:p>
          <a:p>
            <a:r>
              <a:t>the price of fossil fuels without generating any public revenue. So the rents accrue to resource</a:t>
            </a:r>
          </a:p>
          <a:p>
            <a:r>
              <a:t>owners, who are disproportionately wealthy, while consumers -- including poor consumers -- pay higher</a:t>
            </a:r>
          </a:p>
          <a:p>
            <a:r>
              <a:t>prices with nothing to compensate them. A policy explicitly framed as fair would likely widen</a:t>
            </a:r>
          </a:p>
          <a:p>
            <a:r>
              <a:t>inequality. The campaign does call for North-South transfers, but with no proposal for how to fund or</a:t>
            </a:r>
          </a:p>
          <a:p>
            <a:r>
              <a:t>allocate them.</a:t>
            </a:r>
          </a:p>
          <a:p>
            <a:endParaRPr/>
          </a:p>
          <a:p>
            <a:r>
              <a:t>Third, efficiency: fixed end dates by country mean cheap, low-carbon-intensity oil from Qatar is</a:t>
            </a:r>
          </a:p>
          <a:p>
            <a:r>
              <a:t>phased out thirteen years before dirtier oil from Venezuela. You get the same production from worse</a:t>
            </a:r>
          </a:p>
          <a:p>
            <a:r>
              <a:t>sources.</a:t>
            </a:r>
          </a:p>
          <a:p>
            <a:endParaRPr/>
          </a:p>
          <a:p>
            <a:r>
              <a:t>A producer carbon tax fixes the efficiency problem. It doesn't fix the other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[39:00-40:00]</a:t>
            </a:r>
          </a:p>
          <a:p>
            <a:r>
              <a:t>One page to summarise. This is simplified from a fuller table in the paper that scores nine criteria</a:t>
            </a:r>
          </a:p>
          <a:p>
            <a:r>
              <a:t>across nineteen policies -- including, importantly, acceptability separately for low-income,</a:t>
            </a:r>
          </a:p>
          <a:p>
            <a:r>
              <a:t>middle-income, high-income and oil-producing countries.</a:t>
            </a:r>
          </a:p>
          <a:p>
            <a:endParaRPr/>
          </a:p>
          <a:p>
            <a:r>
              <a:t>Scan the highlighted row, which is the proposal: strong on emission reductions, strong on</a:t>
            </a:r>
          </a:p>
          <a:p>
            <a:r>
              <a:t>cost-effectiveness because trade is unrestricted inside the coalition, good on fairness because the</a:t>
            </a:r>
          </a:p>
          <a:p>
            <a:r>
              <a:t>allocation is negotiated from an equal-per-capita focal point.</a:t>
            </a:r>
          </a:p>
          <a:p>
            <a:endParaRPr/>
          </a:p>
          <a:p>
            <a:r>
              <a:t>Its weakness is the last column -- political acceptability -- and I'm not going to hide that. A joint</a:t>
            </a:r>
          </a:p>
          <a:p>
            <a:r>
              <a:t>NDC is a real commitment and it's harder to sell than the status quo. Note also that in the full</a:t>
            </a:r>
          </a:p>
          <a:p>
            <a:r>
              <a:t>table it scores badly with oil-producing states, as does every policy that actually reduces</a:t>
            </a:r>
          </a:p>
          <a:p>
            <a:r>
              <a:t>emissions. That correlation is itself informative.</a:t>
            </a:r>
          </a:p>
          <a:p>
            <a:endParaRPr/>
          </a:p>
          <a:p>
            <a:r>
              <a:t>The row above it is the honest comparison: country-level integrity rules are much easier politically</a:t>
            </a:r>
          </a:p>
          <a:p>
            <a:r>
              <a:t>and deliver much less. That's the trade-off to take away.</a:t>
            </a:r>
          </a:p>
          <a:p>
            <a:endParaRPr/>
          </a:p>
          <a:p>
            <a:r>
              <a:t>And note what's at the top: the status quo scores zero on emission reductions. Not slightly positive.</a:t>
            </a:r>
          </a:p>
          <a:p>
            <a:r>
              <a:t>Zero. Unregulated ITMOs are not a partial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[39:45]</a:t>
            </a:r>
          </a:p>
          <a:p>
            <a:r>
              <a:t>Wrapping up. Two slides: five takeaways, then the closing thought. Leave ~5 minutes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[40:00-41:30]</a:t>
            </a:r>
          </a:p>
          <a:p>
            <a:r>
              <a:t>Five things.</a:t>
            </a:r>
          </a:p>
          <a:p>
            <a:endParaRPr/>
          </a:p>
          <a:p>
            <a:r>
              <a:t>One: the problem is arithmetic, not cheating. Perfect compliance still gives you 2.6 degrees. That's</a:t>
            </a:r>
          </a:p>
          <a:p>
            <a:r>
              <a:t>why better monitoring wouldn't fix it.</a:t>
            </a:r>
          </a:p>
          <a:p>
            <a:endParaRPr/>
          </a:p>
          <a:p>
            <a:r>
              <a:t>Two: carbon trading is a good idea attached to a broken constraint. I want to be clear I'm not</a:t>
            </a:r>
          </a:p>
          <a:p>
            <a:r>
              <a:t>anti-market here -- the gains from trade are real and large. But trade takes the total as given, and</a:t>
            </a:r>
          </a:p>
          <a:p>
            <a:r>
              <a:t>the total is wrong.</a:t>
            </a:r>
          </a:p>
          <a:p>
            <a:endParaRPr/>
          </a:p>
          <a:p>
            <a:r>
              <a:t>Three: some rules are nearly free. Harmonise the pledges. Never buy from a country missing its own</a:t>
            </a:r>
          </a:p>
          <a:p>
            <a:r>
              <a:t>target. No coalition needed, no treaty change needed. If nothing else from this talk survives, those</a:t>
            </a:r>
          </a:p>
          <a:p>
            <a:r>
              <a:t>two should.</a:t>
            </a:r>
          </a:p>
          <a:p>
            <a:endParaRPr/>
          </a:p>
          <a:p>
            <a:r>
              <a:t>Four, the central claim: only a joint pledge closes the gap. The move is to change the unit of</a:t>
            </a:r>
          </a:p>
          <a:p>
            <a:r>
              <a:t>assessment from the country to the coalition, because that's the scale at which 'is this enough' has</a:t>
            </a:r>
          </a:p>
          <a:p>
            <a:r>
              <a:t>a checkable answer.</a:t>
            </a:r>
          </a:p>
          <a:p>
            <a:endParaRPr/>
          </a:p>
          <a:p>
            <a:r>
              <a:t>Five: the alternatives are worse, with one genuine exception. JETPs, ambitiously expanded, are a</a:t>
            </a:r>
          </a:p>
          <a:p>
            <a:r>
              <a:t>complement rather than a competitor -- they deliver finance tied to real mitigation, which is exactly</a:t>
            </a:r>
          </a:p>
          <a:p>
            <a:r>
              <a:t>what the seller side of this system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[41:30-42:00 + Q&amp;A]</a:t>
            </a:r>
          </a:p>
          <a:p>
            <a:r>
              <a:t>Closing thought. ITMOs are not a proposal any more -- the rulebook is done, the first deals are</a:t>
            </a:r>
          </a:p>
          <a:p>
            <a:r>
              <a:t>signed, the EU and Japan have legislated their use. The trading is going to happen. The only open</a:t>
            </a:r>
          </a:p>
          <a:p>
            <a:r>
              <a:t>question is whether it operates under a credible ceiling or without one.</a:t>
            </a:r>
          </a:p>
          <a:p>
            <a:endParaRPr/>
          </a:p>
          <a:p>
            <a:r>
              <a:t>My answer: a coalition with a joint, Paris-aligned pledge and a closed trading boundary, alongside</a:t>
            </a:r>
          </a:p>
          <a:p>
            <a:r>
              <a:t>JETPs expanded far beyond their current scope.</a:t>
            </a:r>
          </a:p>
          <a:p>
            <a:endParaRPr/>
          </a:p>
          <a:p>
            <a:r>
              <a:t>Thank you. Happy to take questions.</a:t>
            </a:r>
          </a:p>
          <a:p>
            <a:endParaRPr/>
          </a:p>
          <a:p>
            <a:r>
              <a:t>--- LIKELY QUESTIONS ---</a:t>
            </a:r>
          </a:p>
          <a:p>
            <a:r>
              <a:t>* "Isn't a closed market protectionist / against the spirit of Paris?" -- It's within Article 6.2,</a:t>
            </a:r>
          </a:p>
          <a:p>
            <a:r>
              <a:t>  which permits any bilateral arrangement. And the boundary is what makes the internal price</a:t>
            </a:r>
          </a:p>
          <a:p>
            <a:r>
              <a:t>  meaningful; without it the price collapses to the world price.</a:t>
            </a:r>
          </a:p>
          <a:p>
            <a:r>
              <a:t>* "Who would actually join?" -- The paper models China + Global South + Europe + Japan, ~750 Gt</a:t>
            </a:r>
          </a:p>
          <a:p>
            <a:r>
              <a:t>  budget 2026-2100. The COP30 coalitions suggest that combination isn't fantasy.</a:t>
            </a:r>
          </a:p>
          <a:p>
            <a:r>
              <a:t>* "What if the US never joins?" -- The design is explicitly minilateral. Coverage guardrails on</a:t>
            </a:r>
          </a:p>
          <a:p>
            <a:r>
              <a:t>  accession are there so enlargement can't dilute ambition.</a:t>
            </a:r>
          </a:p>
          <a:p>
            <a:r>
              <a:t>* "Isn't equal-per-capita unfair to countries with cold climates or heavy industry?" -- It's a focal</a:t>
            </a:r>
          </a:p>
          <a:p>
            <a:r>
              <a:t>  point to negotiate from, not a final allocation; extra room goes to the poorest and hardest-hit.</a:t>
            </a:r>
          </a:p>
          <a:p>
            <a:r>
              <a:t>* "Why 75% probability of 2C rather than 1.5C?" -- Chosen for comparability across the three</a:t>
            </a:r>
          </a:p>
          <a:p>
            <a:r>
              <a:t>  equivalent formulations, and because it's demanding but arguably still negotiable.</a:t>
            </a:r>
          </a:p>
          <a:p>
            <a:r>
              <a:t>* "Doesn't this just recreate the EU ETS?" -- Closer to it than the status quo, yes: the joint NDC</a:t>
            </a:r>
          </a:p>
          <a:p>
            <a:r>
              <a:t>  with yearly national targets is exactly what a compliance market needs. That's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241280" cy="134190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Beyond Current Initiatives:</a:t>
            </a:r>
          </a:p>
          <a:p>
            <a:pPr algn="l">
              <a:lnSpc>
                <a:spcPct val="112000"/>
              </a:lnSpc>
            </a:pPr>
            <a:r>
              <a:rPr sz="4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ITMO Regulations to Ratchet up Ambition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64277"/>
            <a:ext cx="14630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103622"/>
            <a:ext cx="10058400" cy="68711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How a coalition of willing countries could make carbon </a:t>
            </a:r>
            <a:r>
              <a:rPr sz="2000" b="0" i="1" dirty="0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trading</a:t>
            </a:r>
            <a:endParaRPr lang="fr-FR" sz="2000" b="0" i="1" dirty="0" smtClean="0">
              <a:solidFill>
                <a:srgbClr val="A9BCC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5000"/>
              </a:lnSpc>
            </a:pPr>
            <a:r>
              <a:rPr sz="2000" b="0" i="1" dirty="0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serve </a:t>
            </a:r>
            <a:r>
              <a:rPr sz="2000" b="0" i="1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the Paris Agreement instead of undermining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10912"/>
            <a:ext cx="5486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Adrien Fabre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95544"/>
            <a:ext cx="73152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CNRS, CIRED   ·   adrien.fabre@cnrs.fr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11459"/>
            <a:ext cx="73152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Global Environmental Change</a:t>
            </a:r>
            <a:r>
              <a:rPr sz="2000" b="1" i="0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Outline</a:t>
            </a:r>
            <a:endParaRPr sz="3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68580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548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7680960" cy="30777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Paris </a:t>
            </a:r>
            <a:r>
              <a:rPr sz="20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Agreement</a:t>
            </a:r>
            <a:endParaRPr sz="20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1328" y="2167128"/>
            <a:ext cx="85953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countries actually promised — and why it isn't enough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334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68580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2779776"/>
            <a:ext cx="548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743200"/>
            <a:ext cx="76809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081528"/>
            <a:ext cx="85953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Carbon trading between governments, and the trap hidden inside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478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547872"/>
            <a:ext cx="68580" cy="786384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694176"/>
            <a:ext cx="548640" cy="4001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657600"/>
            <a:ext cx="76809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995928"/>
            <a:ext cx="85953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Five rungs of increasing ambition — the core proposal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11057839" cy="786384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462272"/>
            <a:ext cx="68580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4608576"/>
            <a:ext cx="5486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572000"/>
            <a:ext cx="76809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910328"/>
            <a:ext cx="85953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Price floors, climate clubs, fossil fuel non-proliferation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4408" y="3544706"/>
            <a:ext cx="71100" cy="7863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40280"/>
            <a:ext cx="2743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601200" cy="61555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Paris </a:t>
            </a:r>
            <a:r>
              <a:rPr sz="40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Agreement</a:t>
            </a:r>
            <a:endParaRPr sz="40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601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What 195 countries promised in 2015 — and the gap between the promise and the pledges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Why climate is the hardest cooperation problem we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4754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The benefit is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57400"/>
            <a:ext cx="475488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tonne of CO₂ avoided in Jakarta cools the planet exactly as much as a tonne avoided in Berlin. Everyone enjoys the benefit; only one country pays.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4173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627632"/>
            <a:ext cx="4754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The cost is 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57400"/>
            <a:ext cx="4754880" cy="1188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Closing a coal plant is paid by one treasury, one workforce, one electorate. Every government is tempted to let the others act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03320"/>
            <a:ext cx="11057839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Consequence: there is no world government to impose a solution, so climate policy has to be built out of voluntary agreements between sovereign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7200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Two things must be settled for any climate treaty to work:</a:t>
            </a:r>
          </a:p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(1) HOW MUCH total effort?          (2) WHO bears which share of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Three decades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of 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climate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negotiations</a:t>
            </a:r>
            <a:endParaRPr sz="3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749808" y="3456432"/>
            <a:ext cx="10692079" cy="0"/>
          </a:xfrm>
          <a:prstGeom prst="line">
            <a:avLst/>
          </a:prstGeom>
          <a:ln w="4445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27575" y="336499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4575" y="2267712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1992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575" y="2615184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UNFCCC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575" y="3712464"/>
            <a:ext cx="246888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Rio. Universal treaty.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Splits the world in two: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'developed' pay,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'developing' receive.</a:t>
            </a:r>
          </a:p>
        </p:txBody>
      </p:sp>
      <p:sp>
        <p:nvSpPr>
          <p:cNvPr id="13" name="Oval 12"/>
          <p:cNvSpPr/>
          <p:nvPr/>
        </p:nvSpPr>
        <p:spPr>
          <a:xfrm>
            <a:off x="3865991" y="3364992"/>
            <a:ext cx="182880" cy="182880"/>
          </a:xfrm>
          <a:prstGeom prst="ellipse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2991" y="3657600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1997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2991" y="4005072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Kyoto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2991" y="1856232"/>
            <a:ext cx="2468880" cy="1325880"/>
          </a:xfrm>
          <a:prstGeom prst="rect">
            <a:avLst/>
          </a:prstGeom>
          <a:noFill/>
        </p:spPr>
        <p:txBody>
          <a:bodyPr wrap="square" lIns="18288" tIns="0" rIns="18288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Binding targets, but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only for rich countries.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US never ratifies;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Canada walks out.</a:t>
            </a:r>
          </a:p>
        </p:txBody>
      </p:sp>
      <p:sp>
        <p:nvSpPr>
          <p:cNvPr id="17" name="Oval 16"/>
          <p:cNvSpPr/>
          <p:nvPr/>
        </p:nvSpPr>
        <p:spPr>
          <a:xfrm>
            <a:off x="6004407" y="3364992"/>
            <a:ext cx="182880" cy="182880"/>
          </a:xfrm>
          <a:prstGeom prst="ellipse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1407" y="2267712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2009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407" y="2615184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Copenhagen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1407" y="3712464"/>
            <a:ext cx="246888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attempt to agree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binding targets for all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collapses. No treaty.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Top-down is abandoned.</a:t>
            </a:r>
          </a:p>
        </p:txBody>
      </p:sp>
      <p:sp>
        <p:nvSpPr>
          <p:cNvPr id="21" name="Oval 20"/>
          <p:cNvSpPr/>
          <p:nvPr/>
        </p:nvSpPr>
        <p:spPr>
          <a:xfrm>
            <a:off x="8142823" y="3364992"/>
            <a:ext cx="182880" cy="182880"/>
          </a:xfrm>
          <a:prstGeom prst="ellipse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9823" y="3657600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9823" y="4005072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Paris Agreement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9823" y="1856232"/>
            <a:ext cx="2468880" cy="1325880"/>
          </a:xfrm>
          <a:prstGeom prst="rect">
            <a:avLst/>
          </a:prstGeom>
          <a:noFill/>
        </p:spPr>
        <p:txBody>
          <a:bodyPr wrap="square" lIns="18288" tIns="0" rIns="18288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Universal. A temperature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target + voluntary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national pledges (NDCs).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No sanctions.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10281239" y="336499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8239" y="2267712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8239" y="2615184"/>
            <a:ext cx="246888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COP29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8239" y="3712464"/>
            <a:ext cx="2468880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Rulebook for Article 6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carbon trading finalised.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New finance goal: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$300 bn/yr by 2035.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40680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0000"/>
              </a:lnSpc>
            </a:pP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Kyoto </a:t>
            </a:r>
            <a:r>
              <a:rPr lang="fr-FR" sz="17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exempted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7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developing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countries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and 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few 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signed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Copenhagen </a:t>
            </a:r>
            <a:r>
              <a:rPr lang="fr-FR" sz="17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attempted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fr-FR" sz="17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comprehensive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agreement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and collapsed. </a:t>
            </a:r>
            <a:endParaRPr lang="fr-FR" sz="1700" b="0" i="0" dirty="0" smtClean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20000"/>
              </a:lnSpc>
            </a:pP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Paris 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let countries decide for themselves — and everybody signed.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the Paris Agreement actually says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Two moving parts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470915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1.  A GLOBAL TARGET  (Article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4709159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“Holding the increase in the global average temperature to well below 2°C … and pursuing efforts to limit it to 1.5°C.”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10712"/>
            <a:ext cx="4709159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Agreed by everyone. Binding as an objective.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19072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19050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901952"/>
            <a:ext cx="470915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2.  NATIONAL PLEDGES  (NDCs)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13432"/>
            <a:ext cx="4709159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Each country writes its own “Nationally Determined Contribution”: how much it intends to cut, by when, in its own chosen units.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410712"/>
            <a:ext cx="4709159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Submitting one is binding. Achieving it is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70832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Nothing in the treaty connects the two.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001768"/>
            <a:ext cx="118872" cy="118872"/>
          </a:xfrm>
          <a:prstGeom prst="ellipse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4901184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 formula tells a country what its fair share of the global target is.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5518404"/>
            <a:ext cx="118872" cy="118872"/>
          </a:xfrm>
          <a:prstGeom prst="ellipse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5417820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 penalty applies to a country that misses its own pledge.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6035040"/>
            <a:ext cx="118872" cy="118872"/>
          </a:xfrm>
          <a:prstGeom prst="ellipse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934456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only link is the “ratchet”: every five years you submit a new pledge, not meant to be weaker.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doesn't add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sum of the pledges is not the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2485505"/>
            <a:ext cx="1920240" cy="197676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46593"/>
            <a:ext cx="19202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41 </a:t>
            </a:r>
            <a:r>
              <a:rPr sz="2600" b="1" i="0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Gt</a:t>
            </a:r>
            <a:endParaRPr sz="2600" b="1" i="0" dirty="0">
              <a:solidFill>
                <a:srgbClr val="0E7C7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4590288"/>
            <a:ext cx="192024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2°C requires</a:t>
            </a:r>
          </a:p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 2030</a:t>
            </a:r>
          </a:p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(67% chance)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3048" y="2003367"/>
            <a:ext cx="1920240" cy="2458904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3048" y="1564455"/>
            <a:ext cx="19202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 dirty="0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51 Gt</a:t>
            </a:r>
            <a:endParaRPr sz="2600" b="1" i="0" dirty="0">
              <a:solidFill>
                <a:srgbClr val="D9532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13048" y="4590288"/>
            <a:ext cx="192024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all the NDCs</a:t>
            </a:r>
          </a:p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add up to</a:t>
            </a:r>
          </a:p>
          <a:p>
            <a:pPr algn="ctr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 2030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" y="4462272"/>
            <a:ext cx="5349240" cy="0"/>
          </a:xfrm>
          <a:prstGeom prst="line">
            <a:avLst/>
          </a:prstGeom>
          <a:ln w="19050">
            <a:solidFill>
              <a:srgbClr val="6B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36208" y="2003367"/>
            <a:ext cx="347472" cy="482138"/>
          </a:xfrm>
          <a:prstGeom prst="rect">
            <a:avLst/>
          </a:prstGeom>
          <a:solidFill>
            <a:srgbClr val="B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9128" y="1842100"/>
            <a:ext cx="201168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B8861E"/>
                </a:solidFill>
                <a:latin typeface="Calibri"/>
                <a:ea typeface="Calibri"/>
                <a:cs typeface="Calibri"/>
              </a:rPr>
              <a:t>THE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B8861E"/>
                </a:solidFill>
                <a:latin typeface="Calibri"/>
                <a:ea typeface="Calibri"/>
                <a:cs typeface="Calibri"/>
              </a:rPr>
              <a:t>AMBITION GAP</a:t>
            </a:r>
          </a:p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B8861E"/>
                </a:solidFill>
                <a:latin typeface="Calibri"/>
                <a:ea typeface="Calibri"/>
                <a:cs typeface="Calibri"/>
              </a:rPr>
              <a:t>≈ 10 Gt CO₂e / yr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10512"/>
            <a:ext cx="2663647" cy="35661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2057400"/>
            <a:ext cx="22860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Where that 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587752"/>
            <a:ext cx="246888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+2.6°C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502152"/>
            <a:ext cx="2468880" cy="1554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Projected warming by 2100 under current policies, according to Climate Action Tracker — and still rising after that.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This is not a failure of implementation. Even if every country perfectly delivered what it promised, we would still miss the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Why the gap exists: nobody could agree on who pays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UNFCCC's only guidance on burden-sharing is a phrase from 1992: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1758462"/>
            <a:ext cx="10143439" cy="1222482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2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200" b="1" dirty="0">
                <a:solidFill>
                  <a:srgbClr val="11243A"/>
                </a:solidFill>
                <a:ea typeface="Calibri"/>
                <a:cs typeface="Calibri"/>
              </a:rPr>
              <a:t>Parties should protect the climate system (...) </a:t>
            </a:r>
            <a:endParaRPr lang="en-US" sz="2200" b="1" dirty="0" smtClean="0">
              <a:solidFill>
                <a:srgbClr val="11243A"/>
              </a:solidFill>
              <a:ea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2200" b="1" dirty="0" smtClean="0">
                <a:solidFill>
                  <a:srgbClr val="11243A"/>
                </a:solidFill>
                <a:ea typeface="Calibri"/>
                <a:cs typeface="Calibri"/>
              </a:rPr>
              <a:t>on </a:t>
            </a:r>
            <a:r>
              <a:rPr lang="en-US" sz="2200" b="1" dirty="0">
                <a:solidFill>
                  <a:srgbClr val="11243A"/>
                </a:solidFill>
                <a:ea typeface="Calibri"/>
                <a:cs typeface="Calibri"/>
              </a:rPr>
              <a:t>the basis of equity and in accordance with their </a:t>
            </a:r>
            <a:endParaRPr lang="en-US" sz="2200" b="1" dirty="0" smtClean="0">
              <a:solidFill>
                <a:srgbClr val="11243A"/>
              </a:solidFill>
              <a:ea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2200" b="1" dirty="0" smtClean="0">
                <a:solidFill>
                  <a:srgbClr val="11243A"/>
                </a:solidFill>
                <a:ea typeface="Calibri"/>
                <a:cs typeface="Calibri"/>
              </a:rPr>
              <a:t>common </a:t>
            </a:r>
            <a:r>
              <a:rPr lang="en-US" sz="2200" b="1" dirty="0">
                <a:solidFill>
                  <a:srgbClr val="11243A"/>
                </a:solidFill>
                <a:ea typeface="Calibri"/>
                <a:cs typeface="Calibri"/>
              </a:rPr>
              <a:t>but differentiated responsibilities and respective capabilities.</a:t>
            </a:r>
            <a:r>
              <a:rPr sz="2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”  (CBDR)</a:t>
            </a:r>
            <a:endParaRPr sz="2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063240"/>
            <a:ext cx="11057839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Everyone endorses it. Nobody agrees what it means. </a:t>
            </a:r>
            <a:r>
              <a:rPr lang="fr-FR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</a:t>
            </a:r>
            <a:r>
              <a:rPr lang="fr-FR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mbeds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every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possible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principle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3611880"/>
            <a:ext cx="200674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77647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Common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16552"/>
            <a:ext cx="1768998" cy="47218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Every country takes on</a:t>
            </a:r>
          </a:p>
          <a:p>
            <a:pPr algn="ctr">
              <a:lnSpc>
                <a:spcPct val="118000"/>
              </a:lnSpc>
            </a:pPr>
            <a:r>
              <a:rPr lang="fr-FR" sz="13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climate</a:t>
            </a:r>
            <a:r>
              <a:rPr lang="fr-FR" sz="13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action</a:t>
            </a:r>
            <a:endParaRPr sz="1300" b="0" i="0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29702" y="3611880"/>
            <a:ext cx="200674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8574" y="377647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Equal per capita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574" y="441655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Every human has the</a:t>
            </a:r>
            <a:endParaRPr sz="1300" b="0" i="0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same right to emit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2476" y="3611880"/>
            <a:ext cx="200674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1348" y="377647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Historical</a:t>
            </a:r>
          </a:p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1348" y="441655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country owes what it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emitted in the past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5250" y="3611880"/>
            <a:ext cx="200674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4122" y="377647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Ability to 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4122" y="441655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Effort in proportion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 income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8024" y="3611880"/>
            <a:ext cx="200674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6896" y="377647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Grandfathering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6896" y="4416552"/>
            <a:ext cx="1768998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Cut in proportion to</a:t>
            </a:r>
          </a:p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you emit 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0352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19050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Because burden-sharing was never settled, no country can be told its pledge is too small.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Unresolved fairness → unenforceable ambition.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Paris Agreement, from scratch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other two pillars: money, and partnerships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Both useful. Neither caps emissions.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5323179" cy="37947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5323179" cy="566928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56232"/>
            <a:ext cx="477453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CLIMATE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477453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$300 bn / yr by 2035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25496"/>
            <a:ext cx="4774539" cy="247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Pledged at 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COP29</a:t>
            </a:r>
            <a:r>
              <a:rPr lang="fr-FR"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but </a:t>
            </a: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loans count, and 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grant</a:t>
            </a:r>
            <a:r>
              <a:rPr lang="fr-FR"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4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share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4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is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unspecified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82696"/>
            <a:ext cx="4774539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26</a:t>
            </a:r>
            <a:r>
              <a:rPr lang="fr-FR" sz="1900" b="1" i="0" dirty="0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% in </a:t>
            </a:r>
            <a:r>
              <a:rPr lang="fr-FR" sz="1900" b="1" i="0" dirty="0" err="1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grants</a:t>
            </a:r>
            <a:endParaRPr sz="1900" b="1" i="0" dirty="0">
              <a:solidFill>
                <a:srgbClr val="D9532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7" y="3611879"/>
            <a:ext cx="47745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Of the current $100 bn goal, the share delivered as 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69080"/>
            <a:ext cx="477453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$600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398264"/>
            <a:ext cx="47745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India asked for, in grants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855464"/>
            <a:ext cx="477453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$1.5 trillion in 2035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84648"/>
            <a:ext cx="47745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an equal-per-capita carbon budget would imply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1587" y="1719072"/>
            <a:ext cx="5323179" cy="37947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1587" y="1719072"/>
            <a:ext cx="5323179" cy="566928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5907" y="1856232"/>
            <a:ext cx="477453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JUST ENERGY TRANSITION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5907" y="2496312"/>
            <a:ext cx="4774539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developing country commits to cut power-sector emissions; a group of rich countries lends on concessional terms.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5907" y="3456432"/>
            <a:ext cx="477453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Four signed so 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5907" y="3794760"/>
            <a:ext cx="477453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Indonesia · Vietnam · South Africa · Senegal   ($2–20 bn each)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160520"/>
            <a:ext cx="477453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Three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5906" y="4467196"/>
            <a:ext cx="4774539" cy="79983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Narrow sectoral </a:t>
            </a:r>
            <a:r>
              <a:rPr sz="15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scope</a:t>
            </a:r>
            <a:endParaRPr lang="fr-FR" sz="1500" b="0" i="0" dirty="0" smtClean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8000"/>
              </a:lnSpc>
            </a:pPr>
            <a:r>
              <a:rPr lang="fr-FR" sz="150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L</a:t>
            </a:r>
            <a:r>
              <a:rPr sz="15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oans</a:t>
            </a:r>
            <a:r>
              <a:rPr lang="fr-FR" sz="15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5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not grants, so no poverty </a:t>
            </a:r>
            <a:r>
              <a:rPr sz="15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reduction</a:t>
            </a:r>
            <a:endParaRPr lang="fr-FR" sz="1500" b="0" i="0" dirty="0" smtClean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8000"/>
              </a:lnSpc>
            </a:pPr>
            <a:r>
              <a:rPr lang="fr-FR" sz="150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ays</a:t>
            </a:r>
            <a:r>
              <a:rPr sz="15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nothing about China or </a:t>
            </a:r>
            <a:r>
              <a:rPr lang="fr-FR" sz="15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HICs</a:t>
            </a:r>
            <a:endParaRPr sz="1500" b="0" i="0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8" y="5715000"/>
            <a:ext cx="1105783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Common weakness: finance and partnerships fund clean things. Neither puts a ceiling on dirty things.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40280"/>
            <a:ext cx="2743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6012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601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Carbon trading between governments — and the trap hidden inside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First: why trading emissions is a good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same tonne costs very different amounts to avoid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9888" y="1901952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19050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9888" y="2157984"/>
            <a:ext cx="2468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Country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679192"/>
            <a:ext cx="246888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$200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410712"/>
            <a:ext cx="2468880" cy="72635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 avoid one more</a:t>
            </a:r>
          </a:p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tonne</a:t>
            </a:r>
            <a:r>
              <a:rPr sz="20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of CO₂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1901952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04688" y="2157984"/>
            <a:ext cx="24688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Country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679192"/>
            <a:ext cx="246888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$20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3395007"/>
            <a:ext cx="2468880" cy="72635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 avoid one more</a:t>
            </a:r>
          </a:p>
          <a:p>
            <a:pPr algn="ctr">
              <a:lnSpc>
                <a:spcPct val="118000"/>
              </a:lnSpc>
            </a:pPr>
            <a:r>
              <a:rPr sz="2000" b="0" i="0" dirty="0" err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tonne</a:t>
            </a:r>
            <a:r>
              <a:rPr sz="20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of CO₂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33088" y="2770632"/>
            <a:ext cx="1097280" cy="411480"/>
          </a:xfrm>
          <a:prstGeom prst="rightArrow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04488" y="3319272"/>
            <a:ext cx="155448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pays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76488" y="1901952"/>
            <a:ext cx="3148279" cy="30175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69096" y="2157984"/>
            <a:ext cx="2563063" cy="18288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If A pays B, say $60, to cut the tonne instead:</a:t>
            </a:r>
          </a:p>
          <a:p>
            <a:pPr algn="l">
              <a:lnSpc>
                <a:spcPct val="122000"/>
              </a:lnSpc>
            </a:pPr>
            <a:endParaRPr sz="1500" b="0" i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•  the atmosphere sees the same tonne avoided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•  A saves $140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•  B earns $40 above its cost</a:t>
            </a:r>
          </a:p>
          <a:p>
            <a:pPr algn="l">
              <a:lnSpc>
                <a:spcPct val="122000"/>
              </a:lnSpc>
            </a:pPr>
            <a:endParaRPr sz="1500" b="0" i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Both are better off. Nothing was lost.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45152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This is the entire economic case for carbon markets, and it is a good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AF2DF"/>
          </a:solidFill>
          <a:ln w="19050">
            <a:solidFill>
              <a:srgbClr val="B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But notice the hidden assumption: it works only if the TOTAL amount of cutting is already fixed and correct.</a:t>
            </a:r>
          </a:p>
          <a:p>
            <a:pPr algn="ctr">
              <a:lnSpc>
                <a:spcPct val="135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Trade reallocates effort efficiently. It cannot create effort that nobody committed 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Article 6.2: how a transfer actually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ITMO = Internationally Transferred Mitigation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" y="1901952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19050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103120"/>
            <a:ext cx="32461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432304"/>
            <a:ext cx="32461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e.g. Switzerland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22331"/>
            <a:ext cx="324612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Pays for an emission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reduction abroad, and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counts it toward its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own NDC.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5727" y="1901952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75727" y="2103120"/>
            <a:ext cx="32461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5727" y="2432304"/>
            <a:ext cx="32461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e.g. Thailand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5727" y="2801229"/>
            <a:ext cx="324612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Delivers the reduction,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receives the money, and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adds the </a:t>
            </a:r>
            <a:r>
              <a:rPr sz="150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tonnes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back to</a:t>
            </a:r>
          </a:p>
          <a:p>
            <a:pPr algn="ctr">
              <a:lnSpc>
                <a:spcPct val="118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its own account.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90288" y="2450592"/>
            <a:ext cx="3011119" cy="365760"/>
          </a:xfrm>
          <a:prstGeom prst="rightArrow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2048256"/>
            <a:ext cx="355975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money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4590288" y="3200400"/>
            <a:ext cx="3011119" cy="365760"/>
          </a:xfrm>
          <a:prstGeom prst="leftArrow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3657600"/>
            <a:ext cx="355975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the ITMO (tonnes)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7083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“corresponding adjustment”: the tonnes are subtracted from the buyer's emissions account and added to the seller's.</a:t>
            </a:r>
          </a:p>
          <a:p>
            <a:pPr algn="ctr">
              <a:lnSpc>
                <a:spcPct val="13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That prevents double counting — the same tonne cannot be claimed twice.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568696"/>
            <a:ext cx="118872" cy="118872"/>
          </a:xfrm>
          <a:prstGeom prst="ellipse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468112"/>
            <a:ext cx="107469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Rulebook finalised at </a:t>
            </a: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COP29 in 2024</a:t>
            </a: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Purely bilateral: any two governments, any terms.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6085332"/>
            <a:ext cx="118872" cy="118872"/>
          </a:xfrm>
          <a:prstGeom prst="ellipse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5984748"/>
            <a:ext cx="107469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accounting is watertight. </a:t>
            </a:r>
            <a:r>
              <a:rPr sz="18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Whether the underlying pledges were ambitious is not regulated at 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This is happening now, and it is not marginal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55871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2558719" cy="82296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215638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SWITZERLAND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2156383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First deals ever finalised, with Thailand and Ghana. May cover over 50% of its 2035 target with ITMOs.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7" y="1463040"/>
            <a:ext cx="255871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99967" y="1463040"/>
            <a:ext cx="2558719" cy="82296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1135" y="1755648"/>
            <a:ext cx="215638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EUROPEAN UNION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1135" y="2176272"/>
            <a:ext cx="2156383" cy="13665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2040 law allows credits worth 5% of 1990 emissions — letting the EU emit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domestically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50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% above its 2040 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goal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463040"/>
            <a:ext cx="255871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3007" y="1463040"/>
            <a:ext cx="2558719" cy="82296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4175" y="1755648"/>
            <a:ext cx="215638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2176272"/>
            <a:ext cx="2156383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Plans to emit up to 53% above its 2040 goal by buying abroad.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1463040"/>
            <a:ext cx="255871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66047" y="1463040"/>
            <a:ext cx="2558719" cy="82296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7215" y="1755648"/>
            <a:ext cx="215638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ALSO BUYING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7215" y="2176272"/>
            <a:ext cx="2156383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South Korea, Norway, Singapore.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690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projected </a:t>
            </a:r>
            <a:r>
              <a:rPr sz="20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ITMO market by </a:t>
            </a:r>
            <a:r>
              <a:rPr sz="20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2040</a:t>
            </a:r>
            <a:r>
              <a:rPr lang="fr-FR" sz="20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</a:t>
            </a:r>
            <a:br>
              <a:rPr lang="fr-FR" sz="20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2000" b="1" dirty="0">
                <a:solidFill>
                  <a:srgbClr val="FFFFFF"/>
                </a:solidFill>
                <a:ea typeface="Calibri"/>
                <a:cs typeface="Calibri"/>
              </a:rPr>
              <a:t>500 </a:t>
            </a:r>
            <a:r>
              <a:rPr lang="en-US" sz="2000" b="1" dirty="0" err="1">
                <a:solidFill>
                  <a:srgbClr val="FFFFFF"/>
                </a:solidFill>
                <a:ea typeface="Calibri"/>
                <a:cs typeface="Calibri"/>
              </a:rPr>
              <a:t>MtCO</a:t>
            </a:r>
            <a:r>
              <a:rPr lang="en-US" sz="2000" b="1" dirty="0">
                <a:solidFill>
                  <a:srgbClr val="FFFFFF"/>
                </a:solidFill>
                <a:ea typeface="Calibri"/>
                <a:cs typeface="Calibri"/>
              </a:rPr>
              <a:t>₂ per </a:t>
            </a:r>
            <a:r>
              <a:rPr lang="en-US" sz="2000" b="1" dirty="0" smtClean="0">
                <a:solidFill>
                  <a:srgbClr val="FFFFFF"/>
                </a:solidFill>
                <a:ea typeface="Calibri"/>
                <a:cs typeface="Calibri"/>
              </a:rPr>
              <a:t>year</a:t>
            </a:r>
            <a:endParaRPr lang="en-US" sz="20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4178808"/>
            <a:ext cx="5479999" cy="9144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That is roughly the annual emissions of Germany, moved on paper from one national account to another.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40680"/>
            <a:ext cx="11057839" cy="30085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Meanwhile on the selling side: China pledges to cut 7–10% from its peak by 2035. Alignment with 2°C would need about 20</a:t>
            </a:r>
            <a:r>
              <a:rPr sz="17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%.</a:t>
            </a:r>
            <a:endParaRPr sz="1700" b="0" i="0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53902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trap, 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toy world with two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11057839" cy="6858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planet can </a:t>
            </a:r>
            <a:r>
              <a:rPr lang="fr-FR" sz="18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sustain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1,000 Gt in total. 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Without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any climate policy, </a:t>
            </a:r>
            <a:r>
              <a:rPr lang="fr-FR" sz="18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each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region would emit 750 Gt.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2542032"/>
            <a:ext cx="2286000" cy="2616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Region </a:t>
            </a:r>
            <a:r>
              <a:rPr sz="17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fr-FR" sz="17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ich</a:t>
            </a:r>
            <a:endParaRPr sz="17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7648" y="2542032"/>
            <a:ext cx="2286000" cy="2616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Region </a:t>
            </a:r>
            <a:r>
              <a:rPr lang="fr-FR" sz="17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Poor</a:t>
            </a:r>
            <a:endParaRPr sz="17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0808" y="2542032"/>
            <a:ext cx="2926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World total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944368"/>
            <a:ext cx="11057839" cy="0"/>
          </a:xfrm>
          <a:prstGeom prst="line">
            <a:avLst/>
          </a:prstGeom>
          <a:ln w="254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3127248"/>
            <a:ext cx="320040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Its own pledge (NDC)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3072384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500 Gt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072384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1,000 Gt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57600"/>
            <a:ext cx="320040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Emissions WITHOUT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8" y="3602736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602736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3602736"/>
            <a:ext cx="29260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1,250 Gt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33088"/>
            <a:ext cx="11057839" cy="502920"/>
          </a:xfrm>
          <a:prstGeom prst="roundRect">
            <a:avLst>
              <a:gd name="adj" fmla="val 6000"/>
            </a:avLst>
          </a:prstGeom>
          <a:solidFill>
            <a:srgbClr val="FA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Poor has 250 Gt of spare room it never had to earn.  It sells that room to Rich, very cheaply.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791456"/>
            <a:ext cx="320040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Emissions WITH trading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4736592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750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736592"/>
            <a:ext cx="228600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750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4736592"/>
            <a:ext cx="2926080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1,500 Gt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70418"/>
            <a:ext cx="11057839" cy="557784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25400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800" b="1" i="0" dirty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Trading made global emissions rise from 1,250 to 1,500 </a:t>
            </a:r>
            <a:r>
              <a:rPr lang="fr-FR" sz="1800" b="1" i="0" dirty="0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Gt</a:t>
            </a:r>
            <a:r>
              <a:rPr sz="1800" b="1" i="0" dirty="0" smtClean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.</a:t>
            </a:r>
            <a:endParaRPr sz="1800" b="1" i="0" dirty="0">
              <a:solidFill>
                <a:srgbClr val="D9532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14"/>
          <p:cNvSpPr txBox="1"/>
          <p:nvPr/>
        </p:nvSpPr>
        <p:spPr>
          <a:xfrm>
            <a:off x="9003441" y="3078128"/>
            <a:ext cx="2286000" cy="32316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1,</a:t>
            </a:r>
            <a:r>
              <a:rPr lang="fr-FR" sz="2100" b="1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5</a:t>
            </a:r>
            <a:r>
              <a:rPr sz="2100" b="1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00 </a:t>
            </a:r>
            <a:r>
              <a:rPr sz="2100" b="1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Gt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What is an ITMO?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deep reason: the price is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2339263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2046655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sum of NDCs</a:t>
            </a:r>
          </a:p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 too loose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2046655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There is an ambition gap of ~10 Gt/yr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5919" y="2496312"/>
            <a:ext cx="347472" cy="274320"/>
          </a:xfrm>
          <a:prstGeom prst="rightArrow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3119" y="1691640"/>
            <a:ext cx="2339263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9423" y="1947672"/>
            <a:ext cx="2046655" cy="65376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Spare </a:t>
            </a:r>
            <a:r>
              <a:rPr sz="1800" b="1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tonnes</a:t>
            </a:r>
            <a:endParaRPr sz="18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18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are abundant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5757" y="2788920"/>
            <a:ext cx="2113986" cy="47218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Sellers hold headroom they never </a:t>
            </a:r>
            <a:r>
              <a:rPr lang="fr-FR" sz="1300" b="0" i="0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meant</a:t>
            </a:r>
            <a:r>
              <a:rPr lang="fr-FR" sz="13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to use </a:t>
            </a:r>
            <a:r>
              <a:rPr sz="13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(“</a:t>
            </a: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hot air”)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2111" y="2496312"/>
            <a:ext cx="347472" cy="274320"/>
          </a:xfrm>
          <a:prstGeom prst="rightArrow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9311" y="1691640"/>
            <a:ext cx="2339263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5615" y="1947672"/>
            <a:ext cx="2046655" cy="65376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ITMOs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are</a:t>
            </a:r>
          </a:p>
          <a:p>
            <a:pPr algn="ctr">
              <a:lnSpc>
                <a:spcPct val="118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cheap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2788920"/>
            <a:ext cx="2046655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price reflects the loose pledges, not the Paris target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8303" y="2496312"/>
            <a:ext cx="347472" cy="274320"/>
          </a:xfrm>
          <a:prstGeom prst="rightArrow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85503" y="1691640"/>
            <a:ext cx="2339263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1807" y="1947672"/>
            <a:ext cx="2046655" cy="65376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fr-FR" b="1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</a:t>
            </a:r>
            <a:r>
              <a:rPr sz="18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uying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beats</a:t>
            </a:r>
          </a:p>
          <a:p>
            <a:pPr algn="ctr">
              <a:lnSpc>
                <a:spcPct val="118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5503" y="2788920"/>
            <a:ext cx="2339263" cy="47218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Domestic </a:t>
            </a:r>
            <a:r>
              <a:rPr lang="fr-FR" sz="130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transition</a:t>
            </a:r>
            <a:r>
              <a:rPr sz="13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is postponed in </a:t>
            </a:r>
            <a:r>
              <a:rPr sz="13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favor </a:t>
            </a:r>
            <a:r>
              <a:rPr sz="13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of cheap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31920"/>
            <a:ext cx="1105783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carbon price is supposed to be the shadow price of a binding constraint.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34840"/>
            <a:ext cx="11057839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If the constraint isn't binding — if the pledges collectively allow more emissions than the target — then the market price measures nothing real. It is the price of a promise nobody had to keep.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94960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Unregulated ITMOs do not export ambition from rich countries. They import laxity into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40280"/>
            <a:ext cx="2743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6012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601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Five rungs of increasing ambition — for a coalition of the willing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has already been proposed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Two influential fixes — and what they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5323179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29384"/>
            <a:ext cx="4774539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Michaelowa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et al. </a:t>
            </a:r>
            <a:r>
              <a:rPr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fr-FR" sz="1900" b="1" i="1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Climate</a:t>
            </a:r>
            <a:r>
              <a:rPr lang="fr-FR" sz="1900" b="1" i="1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Policy</a:t>
            </a:r>
            <a:r>
              <a:rPr lang="fr-FR"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2019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4774539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“ITMOs must be additional”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4774539" cy="12801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supervisory board checks whether the seller's pledge is below business-as-usual. If yes, trade is allowed. If not, the pledge generates hot air, and each individual project must be audited for </a:t>
            </a:r>
            <a:r>
              <a:rPr sz="150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additionality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19072"/>
            <a:ext cx="5323179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5907" y="1929384"/>
            <a:ext cx="4774539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La </a:t>
            </a:r>
            <a:r>
              <a:rPr sz="1900" b="1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Hoz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1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Theuer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et al. </a:t>
            </a:r>
            <a:r>
              <a:rPr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fr-FR" sz="1900" b="1" i="1" dirty="0" err="1">
                <a:solidFill>
                  <a:srgbClr val="11243A"/>
                </a:solidFill>
                <a:ea typeface="Calibri"/>
                <a:cs typeface="Calibri"/>
              </a:rPr>
              <a:t>Climate</a:t>
            </a:r>
            <a:r>
              <a:rPr lang="fr-FR" sz="1900" b="1" i="1" dirty="0">
                <a:solidFill>
                  <a:srgbClr val="11243A"/>
                </a:solidFill>
                <a:ea typeface="Calibri"/>
                <a:cs typeface="Calibri"/>
              </a:rPr>
              <a:t> Policy</a:t>
            </a:r>
            <a:r>
              <a:rPr lang="fr-FR" sz="1900" b="1" dirty="0">
                <a:solidFill>
                  <a:srgbClr val="11243A"/>
                </a:solidFill>
                <a:ea typeface="Calibri"/>
                <a:cs typeface="Calibri"/>
              </a:rPr>
              <a:t>, </a:t>
            </a:r>
            <a:r>
              <a:rPr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2019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5907" y="2331720"/>
            <a:ext cx="4774539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“Just cap the </a:t>
            </a:r>
            <a:r>
              <a:rPr b="0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quantity</a:t>
            </a:r>
            <a:r>
              <a:rPr lang="fr-FR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of </a:t>
            </a:r>
            <a:r>
              <a:rPr lang="fr-FR" i="1" dirty="0" err="1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ITMOs</a:t>
            </a:r>
            <a:r>
              <a:rPr b="0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”</a:t>
            </a:r>
            <a:endParaRPr b="0" i="1" dirty="0">
              <a:solidFill>
                <a:srgbClr val="0E7C7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75907" y="2770632"/>
            <a:ext cx="4774539" cy="11079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They test four ways of defining business-as-usual and show that every one of them still creates hot air somewhere. So instead: simply limit 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sales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of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ITMOs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to a fixed share of a country's emissions — 1% or 5%.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62272"/>
            <a:ext cx="11057839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Both </a:t>
            </a: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share one assumption: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65192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FAF2DF"/>
          </a:solidFill>
          <a:ln w="22225">
            <a:solidFill>
              <a:srgbClr val="B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That a pledge can be judged COUNTRY BY COUNTRY, against that country's own projected emissions.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71031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 will argue that assumption is both unfair and ineffective — but first, the rules worth having anyway.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ladder of five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Each rung is voluntary, and more demanding than the one below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4919472"/>
            <a:ext cx="10554919" cy="713232"/>
          </a:xfrm>
          <a:prstGeom prst="roundRect">
            <a:avLst>
              <a:gd name="adj" fmla="val 6000"/>
            </a:avLst>
          </a:prstGeom>
          <a:solidFill>
            <a:srgbClr val="E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5065776"/>
            <a:ext cx="457200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2400" b="1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0</a:t>
            </a:r>
            <a:endParaRPr sz="24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55648" y="5010912"/>
            <a:ext cx="945763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Harmonize the pledges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5330952"/>
            <a:ext cx="9457639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Make NDCs comparable at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4064508"/>
            <a:ext cx="9594799" cy="713232"/>
          </a:xfrm>
          <a:prstGeom prst="roundRect">
            <a:avLst>
              <a:gd name="adj" fmla="val 6000"/>
            </a:avLst>
          </a:prstGeom>
          <a:solidFill>
            <a:srgbClr val="C7D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4210812"/>
            <a:ext cx="457200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2400" b="1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1</a:t>
            </a:r>
            <a:endParaRPr sz="24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15768" y="4155948"/>
            <a:ext cx="849751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 ITMOs from a failed pledge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4475988"/>
            <a:ext cx="8497519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bare minimum of 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3209544"/>
            <a:ext cx="8634679" cy="713232"/>
          </a:xfrm>
          <a:prstGeom prst="roundRect">
            <a:avLst>
              <a:gd name="adj" fmla="val 6000"/>
            </a:avLst>
          </a:prstGeom>
          <a:solidFill>
            <a:srgbClr val="8FC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40" y="3355848"/>
            <a:ext cx="457200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2400" b="1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</a:t>
            </a:r>
            <a:endParaRPr sz="24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75888" y="3300984"/>
            <a:ext cx="75373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 ITMOs from an unambitious pledge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621024"/>
            <a:ext cx="7537399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Buyers apply an ambition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67328" y="2354579"/>
            <a:ext cx="7674559" cy="713232"/>
          </a:xfrm>
          <a:prstGeom prst="roundRect">
            <a:avLst>
              <a:gd name="adj" fmla="val 6000"/>
            </a:avLst>
          </a:prstGeom>
          <a:solidFill>
            <a:srgbClr val="3F9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2500884"/>
            <a:ext cx="457200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36008" y="2446020"/>
            <a:ext cx="6577279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19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Adequate</a:t>
            </a: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inance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unlock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ing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conditional pledges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766060"/>
            <a:ext cx="6577279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Money buys real ambition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7448" y="1499615"/>
            <a:ext cx="6714439" cy="713232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1645919"/>
            <a:ext cx="457200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4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96128" y="1591055"/>
            <a:ext cx="561715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joint NDC for the whole coalition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1911095"/>
            <a:ext cx="5617159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only rung that closes the gap</a:t>
            </a:r>
          </a:p>
        </p:txBody>
      </p:sp>
      <p:sp>
        <p:nvSpPr>
          <p:cNvPr id="28" name="Up Arrow 27"/>
          <p:cNvSpPr/>
          <p:nvPr/>
        </p:nvSpPr>
        <p:spPr>
          <a:xfrm>
            <a:off x="457200" y="1947672"/>
            <a:ext cx="292608" cy="3703320"/>
          </a:xfrm>
          <a:prstGeom prst="upArrow">
            <a:avLst/>
          </a:prstGeom>
          <a:solidFill>
            <a:srgbClr val="E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5779008"/>
            <a:ext cx="10737799" cy="2616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Rungs 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0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–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are almost costless. Rungs 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–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3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principled buyer can adopt alone. Rung 4 needs a coalition.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94576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0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—  Harmonize the pledges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1057839" cy="33624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Today, every country writes its pledge in its own </a:t>
            </a:r>
            <a:r>
              <a:rPr lang="fr-FR" sz="19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way</a:t>
            </a:r>
            <a:r>
              <a:rPr sz="19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You cannot add them up without making assumptions.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29967"/>
            <a:ext cx="5852160" cy="566928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176272"/>
            <a:ext cx="44805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Which greenhouse gases?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130551"/>
            <a:ext cx="10058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each country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picks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88335"/>
            <a:ext cx="5852160" cy="566928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834639"/>
            <a:ext cx="44805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Which sectors? Forests included?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788919"/>
            <a:ext cx="10058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each country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picks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46703"/>
            <a:ext cx="5852160" cy="566928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493007"/>
            <a:ext cx="44805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Absolute cut, or cut per unit of GDP?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447287"/>
            <a:ext cx="10058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each country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picks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05071"/>
            <a:ext cx="5852160" cy="566928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151375"/>
            <a:ext cx="448056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Which conversion factors between gases?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105655"/>
            <a:ext cx="100584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each country</a:t>
            </a:r>
          </a:p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picks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029967"/>
            <a:ext cx="4748479" cy="292608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68896" y="2240280"/>
            <a:ext cx="4163263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What </a:t>
            </a:r>
            <a:r>
              <a:rPr lang="fr-FR" sz="1800" b="1" i="0" dirty="0" err="1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we</a:t>
            </a:r>
            <a:r>
              <a:rPr lang="fr-FR" sz="1800" b="1" i="0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1" i="0" dirty="0" err="1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should</a:t>
            </a:r>
            <a:r>
              <a:rPr sz="1800" b="1" i="0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require</a:t>
            </a:r>
            <a:endParaRPr sz="1800" b="1" i="0" dirty="0">
              <a:solidFill>
                <a:srgbClr val="0E7C7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196328" y="2734056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79792" y="2650813"/>
            <a:ext cx="3852367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Cover all Kyoto gases, all sectors</a:t>
            </a:r>
          </a:p>
        </p:txBody>
      </p:sp>
      <p:sp>
        <p:nvSpPr>
          <p:cNvPr id="25" name="Oval 24"/>
          <p:cNvSpPr/>
          <p:nvPr/>
        </p:nvSpPr>
        <p:spPr>
          <a:xfrm>
            <a:off x="7196328" y="3124962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1" y="3068954"/>
            <a:ext cx="3852367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State an absolute target, in CO₂-equivalent</a:t>
            </a:r>
          </a:p>
        </p:txBody>
      </p:sp>
      <p:sp>
        <p:nvSpPr>
          <p:cNvPr id="27" name="Oval 26"/>
          <p:cNvSpPr/>
          <p:nvPr/>
        </p:nvSpPr>
        <p:spPr>
          <a:xfrm>
            <a:off x="7196328" y="3515868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4928" y="3447287"/>
            <a:ext cx="4300423" cy="21929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One conversion factor: IPCC AR6 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GWP100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or GWP500</a:t>
            </a:r>
            <a:endParaRPr sz="15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196328" y="3906774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3813047"/>
            <a:ext cx="3852367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Separate land use from the rest</a:t>
            </a:r>
          </a:p>
        </p:txBody>
      </p:sp>
      <p:sp>
        <p:nvSpPr>
          <p:cNvPr id="31" name="Oval 30"/>
          <p:cNvSpPr/>
          <p:nvPr/>
        </p:nvSpPr>
        <p:spPr>
          <a:xfrm>
            <a:off x="7196328" y="4297680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9792" y="4197096"/>
            <a:ext cx="3852367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Ideally: a cumulative carbon budget, a yearly path, and the intended use of ITMOs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20640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Not glamorous, but a precondition: you cannot enforce a rule about ambition until ambition is measurable.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94576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1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—  No ITMOs from a failed pledge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A country may sell only the tonnes by which its emissions fall BELOW its own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78608"/>
            <a:ext cx="2651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Country meets its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578608"/>
            <a:ext cx="2651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Country misses its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3566159"/>
            <a:ext cx="2651760" cy="1783080"/>
          </a:xfrm>
          <a:prstGeom prst="rect">
            <a:avLst/>
          </a:prstGeom>
          <a:solidFill>
            <a:srgbClr val="E2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848" y="4160520"/>
            <a:ext cx="2651760" cy="1188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6" y="4572000"/>
            <a:ext cx="2432304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actual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3657599"/>
            <a:ext cx="2432304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spare room → sellable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108959"/>
            <a:ext cx="2651760" cy="2240280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91456" y="4023359"/>
            <a:ext cx="2432304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actual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emissions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7" y="3566159"/>
            <a:ext cx="6720841" cy="0"/>
          </a:xfrm>
          <a:prstGeom prst="line">
            <a:avLst/>
          </a:prstGeom>
          <a:ln w="25400">
            <a:solidFill>
              <a:srgbClr val="11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26096" y="3428999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5349240"/>
            <a:ext cx="6720841" cy="0"/>
          </a:xfrm>
          <a:prstGeom prst="line">
            <a:avLst/>
          </a:prstGeom>
          <a:ln w="19050">
            <a:solidFill>
              <a:srgbClr val="6B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618488" y="5513831"/>
            <a:ext cx="1554480" cy="420624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SELL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0368" y="5513831"/>
            <a:ext cx="1554480" cy="420624"/>
          </a:xfrm>
          <a:prstGeom prst="roundRect">
            <a:avLst>
              <a:gd name="adj" fmla="val 6000"/>
            </a:avLst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971800"/>
            <a:ext cx="3239719" cy="25345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Obvious once stated — yet nothing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punishes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countries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from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doing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so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  <a:endParaRPr sz="15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endParaRPr sz="15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should also cover countries that quietly weakened an earlier target.</a:t>
            </a:r>
          </a:p>
          <a:p>
            <a:pPr algn="l">
              <a:lnSpc>
                <a:spcPct val="122000"/>
              </a:lnSpc>
            </a:pPr>
            <a:endParaRPr sz="15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lang="fr-FR" sz="15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E.g</a:t>
            </a:r>
            <a:r>
              <a:rPr lang="fr-FR"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Angola </a:t>
            </a:r>
            <a:r>
              <a:rPr sz="15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doubled its assumed business-as-usual in a revised pledge, creating headroom out of thin air.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94576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—  Refuse to buy from an unambitious pledge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7" y="1247974"/>
            <a:ext cx="11057839" cy="6370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Meeting your pledge is not enough if the pledge itself was undemanding. 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/>
            </a:r>
            <a:b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</a:b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principled 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should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only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from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a country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that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passes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two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test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</a:t>
            </a:r>
            <a:endParaRPr sz="18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68580" cy="960120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04288"/>
            <a:ext cx="15544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Test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139696"/>
            <a:ext cx="8686800" cy="29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 the target </a:t>
            </a:r>
            <a:r>
              <a:rPr lang="fr-FR" sz="18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below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business-as-usual?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96896"/>
            <a:ext cx="86868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If a pledge requires no effort at all, it is not a pledge.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0896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108960"/>
            <a:ext cx="68580" cy="960120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401568"/>
            <a:ext cx="15544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Test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236976"/>
            <a:ext cx="8686800" cy="29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 it </a:t>
            </a:r>
            <a:r>
              <a:rPr lang="fr-FR" sz="18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below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800" b="1" i="1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either</a:t>
            </a:r>
            <a:r>
              <a:rPr lang="fr-FR" sz="1800" b="1" i="1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cost-optimal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2°C emissions </a:t>
            </a:r>
            <a:r>
              <a:rPr lang="fr-FR" sz="1800" b="1" i="1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or </a:t>
            </a:r>
            <a:r>
              <a:rPr sz="18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 </a:t>
            </a:r>
            <a:r>
              <a:rPr sz="18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equal-per-capita share?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694176"/>
            <a:ext cx="8686800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If it fails both, no burden-sharing principle </a:t>
            </a:r>
            <a:r>
              <a:rPr sz="14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can </a:t>
            </a:r>
            <a:r>
              <a:rPr sz="14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justify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0624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206240"/>
            <a:ext cx="68580" cy="96012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498848"/>
            <a:ext cx="15544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Simple proxy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4334256"/>
            <a:ext cx="86868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Are the country's emissions per person above the world average?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791456"/>
            <a:ext cx="86868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Crude, but avoids arguing about which 2°C model to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3520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AF2DF"/>
          </a:solidFill>
          <a:ln w="22225">
            <a:solidFill>
              <a:srgbClr val="B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first ITMO deal ever finalised — Switzerland buying from Thailand — passes all of these tests.</a:t>
            </a:r>
          </a:p>
          <a:p>
            <a:pPr algn="ctr">
              <a:lnSpc>
                <a:spcPct val="135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Yet the price paid is still too low, because the world's pledges still don't add up.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0924618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3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—  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Adequate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f</a:t>
            </a:r>
            <a:r>
              <a:rPr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inance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unlock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ing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conditional pledges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11057839" cy="29982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Most developing countries file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two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targets. </a:t>
            </a:r>
            <a:r>
              <a:rPr sz="180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stronger one </a:t>
            </a:r>
            <a:r>
              <a:rPr lang="fr-FR" sz="180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should</a:t>
            </a:r>
            <a:r>
              <a:rPr lang="fr-FR" sz="180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appl</a:t>
            </a:r>
            <a:r>
              <a:rPr lang="fr-FR" sz="180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y</a:t>
            </a:r>
            <a:r>
              <a:rPr sz="180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only if promised finance arrives.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67712"/>
            <a:ext cx="475167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Unconditional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0048"/>
            <a:ext cx="4751679" cy="76270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“What we will do with our own resources.” Often above business-as-usual — which under rung </a:t>
            </a:r>
            <a:r>
              <a:rPr lang="fr-FR"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400" b="0" i="0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would exclude the country from selling.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2103120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1905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98767" y="2267712"/>
            <a:ext cx="475167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Conditional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2670048"/>
            <a:ext cx="4751679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“What we will do if we receive $X of climate finance.” Typically well below business-as-usual.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rule:  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ssess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seller against its 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target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if 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</a:t>
            </a: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promised finance has 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been delivered.</a:t>
            </a:r>
            <a:endParaRPr sz="19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94360" y="4946904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846320"/>
            <a:ext cx="107469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This turns market access into leverage. </a:t>
            </a: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To buy, you must first provide real, grant-based climate finance.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427726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5327142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Only “unidirectional” finance counts — not ITMO revenue itself, or the buyer would pay once and claim twice.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5908548"/>
            <a:ext cx="118872" cy="11887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5807964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Sellers could organise: a bloc of low emitters has real market power 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r>
              <a:rPr lang="en-US" sz="3200" b="1" dirty="0">
                <a:solidFill>
                  <a:srgbClr val="11243A"/>
                </a:solidFill>
                <a:ea typeface="Calibri"/>
                <a:cs typeface="Calibri"/>
              </a:rPr>
              <a:t>Issues with national assessments of </a:t>
            </a:r>
            <a:r>
              <a:rPr lang="en-US" sz="3200" b="1" dirty="0" smtClean="0">
                <a:solidFill>
                  <a:srgbClr val="11243A"/>
                </a:solidFill>
                <a:ea typeface="Calibri"/>
                <a:cs typeface="Calibri"/>
              </a:rPr>
              <a:t>pledges</a:t>
            </a:r>
            <a:endParaRPr sz="3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Two reasons why judging pledges one country at a time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5323179" cy="306324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1.  Ineffective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50592"/>
            <a:ext cx="4683099" cy="21028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Even if every seller's target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individually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deemed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ambitious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enough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pledges can still add up to more than the planet can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sustain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  <a:endParaRPr sz="16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endParaRPr sz="16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ambition gap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persists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Demand for ITMOs stays weak, the price stays low, and buyers keep postponing domestic 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transition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  <a:endParaRPr sz="16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1587" y="1719072"/>
            <a:ext cx="5323179" cy="3063240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 w="22225">
            <a:solidFill>
              <a:srgbClr val="D953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1627" y="1947672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2.  Unfair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1626" y="2450592"/>
            <a:ext cx="5003139" cy="21028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low emitter may quite legitimately set its target </a:t>
            </a:r>
            <a:r>
              <a:rPr lang="fr-FR" sz="1600" b="0" i="1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above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its own business-as-usual — and still deserve to sell. It would simply be claiming a fair share of the atmosphere that it is not yet using.</a:t>
            </a:r>
          </a:p>
          <a:p>
            <a:pPr algn="l">
              <a:lnSpc>
                <a:spcPct val="122000"/>
              </a:lnSpc>
            </a:pPr>
            <a:endParaRPr sz="16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2000"/>
              </a:lnSpc>
            </a:pP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Global South excluding China already asks for 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less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than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their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fair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share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13.5 </a:t>
            </a:r>
            <a:r>
              <a:rPr sz="160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GtCO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₂ in 2030, or 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2.8t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per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8348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ambition gap</a:t>
            </a:r>
            <a:r>
              <a:rPr lang="fr-FR" sz="1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9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9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meaningful</a:t>
            </a: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at the </a:t>
            </a:r>
            <a:r>
              <a:rPr lang="fr-FR" sz="19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</a:t>
            </a: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of the world (or a large coalition). </a:t>
            </a:r>
          </a:p>
          <a:p>
            <a:pPr algn="ctr">
              <a:lnSpc>
                <a:spcPct val="135000"/>
              </a:lnSpc>
            </a:pP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That </a:t>
            </a:r>
            <a:r>
              <a:rPr lang="fr-FR" sz="19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fr-FR" sz="1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 </a:t>
            </a: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scale where there is consensus that 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climate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action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 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inadequate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not at national </a:t>
            </a:r>
            <a:r>
              <a:rPr lang="fr-FR" sz="19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</a:t>
            </a:r>
            <a:r>
              <a:rPr sz="19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sz="1900" b="1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94576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Rung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4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—  A coalition with a joint NDC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57839" cy="1143000"/>
          </a:xfrm>
          <a:prstGeom prst="roundRect">
            <a:avLst>
              <a:gd name="adj" fmla="val 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2000"/>
              </a:lnSpc>
            </a:pPr>
            <a:r>
              <a:rPr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group of willing countries submits </a:t>
            </a:r>
            <a:r>
              <a:rPr lang="fr-FR"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</a:t>
            </a:r>
            <a:r>
              <a:rPr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joint pledge, aligned with the Paris target,</a:t>
            </a:r>
          </a:p>
          <a:p>
            <a:pPr algn="ctr">
              <a:lnSpc>
                <a:spcPct val="132000"/>
              </a:lnSpc>
            </a:pPr>
            <a:r>
              <a:rPr lang="en-US" sz="22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</a:t>
            </a:r>
            <a:r>
              <a:rPr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fr-FR"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200" b="1" i="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commits</a:t>
            </a:r>
            <a:r>
              <a:rPr lang="fr-FR"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to</a:t>
            </a:r>
            <a:r>
              <a:rPr sz="2200" b="1" i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trade </a:t>
            </a:r>
            <a:r>
              <a:rPr sz="2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ITMOs only among themselves.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3442106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344210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2930042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Why a JOINT pledge?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2930042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Ambition can finally be judged at the scale where it means something: does the coalition's total fit inside a Paris-aligned carbon budget? Yes or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2816352"/>
            <a:ext cx="3442106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4794" y="2816352"/>
            <a:ext cx="344210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0826" y="3090672"/>
            <a:ext cx="2930042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Why a CLOSED market?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0826" y="3547872"/>
            <a:ext cx="2930042" cy="108901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If members traded with outsiders holding loose pledges, </a:t>
            </a:r>
            <a:r>
              <a:rPr lang="fr-FR" sz="145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weak</a:t>
            </a:r>
            <a:r>
              <a:rPr lang="fr-FR"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ambition </a:t>
            </a: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would </a:t>
            </a: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flow straight back in. The boundary is what protects the price.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2660" y="2816352"/>
            <a:ext cx="3442106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2660" y="2816352"/>
            <a:ext cx="344210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8692" y="3090672"/>
            <a:ext cx="2930042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it makes 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8692" y="3547872"/>
            <a:ext cx="2930042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Inside the coalition, ambition is guaranteed by construction — so members can trade freely, with no need for restrictions </a:t>
            </a:r>
            <a:r>
              <a:rPr lang="fr-FR"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of</a:t>
            </a: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rung</a:t>
            </a:r>
            <a:r>
              <a:rPr lang="fr-FR"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2</a:t>
            </a:r>
            <a:r>
              <a:rPr lang="fr-FR"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and 3</a:t>
            </a: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  <a:endParaRPr sz="145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precedent already exists: the European Union submits a single joint NDC for 27 member states.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How it would work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Four design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9324" y="2170293"/>
            <a:ext cx="29260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coalition's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6760159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Proposed benchmark: an equal-per-capita share of a global budget giving a 75% chance of staying below 2°C. For a coalition of China, the Global South, Europe and Japan that is about 750 GtCO₂ over 2026–2100.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79776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3072384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62656"/>
            <a:ext cx="29260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gentle start,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steepening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89504"/>
            <a:ext cx="6760159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2026 target simply equals current emissions. 2027 sits slightly below business-as-usual. The wedge widens every year until the coalition reaches a Paris-aligned reduction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4048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87953"/>
            <a:ext cx="29260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Sharing it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50208"/>
            <a:ext cx="6760159" cy="8032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Start from a focal point: </a:t>
            </a:r>
            <a:r>
              <a:rPr sz="145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each country gets the </a:t>
            </a:r>
            <a:r>
              <a:rPr lang="fr-FR" sz="145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minimum</a:t>
            </a:r>
            <a:r>
              <a:rPr sz="145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of its projected emissions, its existing pledge, and its equal-per-capita share of the coalition's path</a:t>
            </a: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Then hand extra room to the poorest members and to those hit hardest.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01184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232830"/>
            <a:ext cx="2926080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scientific council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5010912"/>
            <a:ext cx="6760159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Projects baselines, models the distributional effects, proposes allocations. Every member may nominate a team; in case of disagreement, votes are weighted by the population represented.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053328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Ideally the joint pledge sets a cumulative budget split into yearly national targets — exactly what a real cap-and-trade needs.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ladder of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 this 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feasible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Four reasons to think 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64792"/>
            <a:ext cx="53231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64792"/>
            <a:ext cx="68580" cy="1645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Coalitions beat consensus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68296"/>
            <a:ext cx="4683099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UNFCCC decides by consensus, so it moves at the speed of its most reluctant member. A parallel coalition does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64792"/>
            <a:ext cx="53231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1587" y="1764792"/>
            <a:ext cx="68580" cy="1645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1627" y="1947672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public is ahead of governments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2368296"/>
            <a:ext cx="4683099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Surveys across many countries find majority support for international climate policies — even when respondents are told what it would cost them personally.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38728"/>
            <a:ext cx="53231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3538728"/>
            <a:ext cx="68580" cy="16459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21608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needs no new treaty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42232"/>
            <a:ext cx="4683099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Everything here operates inside the Paris Agreement, using Article 6.2. It operationalizes CBDR rather than replacing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1587" y="3538728"/>
            <a:ext cx="5323179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1587" y="3538728"/>
            <a:ext cx="68580" cy="1645920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1627" y="3721608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door is already opening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1627" y="4142232"/>
            <a:ext cx="4683099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COP30 launched the Open Coalition on Compliance Carbon Markets (China, the EU, Brazil and 15 others) and the Article 6 Ambition Alliance (10 countries, incl. Switzerland and Germany).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4104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And if new members join? They may propose a new allocation, adopted by majority vote —</a:t>
            </a:r>
          </a:p>
          <a:p>
            <a:pPr algn="ctr">
              <a:lnSpc>
                <a:spcPct val="135000"/>
              </a:lnSpc>
            </a:pPr>
            <a:r>
              <a:rPr sz="16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provided it does not shrink emissions coverage or lower the projected ITMO price.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40280"/>
            <a:ext cx="2743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6012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601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If not this, then what? Five competing proposals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 the EU 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level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leverage, not 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offset</a:t>
            </a:r>
            <a:endParaRPr sz="3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2616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 dirty="0" err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Zachmann</a:t>
            </a:r>
            <a:r>
              <a:rPr sz="17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&amp; </a:t>
            </a:r>
            <a:r>
              <a:rPr sz="1700" b="0" i="1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Weisser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(</a:t>
            </a: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Bruegel </a:t>
            </a:r>
            <a:r>
              <a:rPr sz="17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Policy </a:t>
            </a: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Brief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2026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)</a:t>
            </a:r>
            <a:endParaRPr sz="1700" b="0" i="1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057839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The three moves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347258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347258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048256"/>
            <a:ext cx="2997098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National credits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59152"/>
            <a:ext cx="2997098" cy="49377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Issued at country level, not project by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9554" y="1901952"/>
            <a:ext cx="347258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9554" y="1901952"/>
            <a:ext cx="347258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7298" y="2048256"/>
            <a:ext cx="2997098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Private buyers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2359152"/>
            <a:ext cx="2997098" cy="49377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Firms buy for their own compliance with domestic policies such as the EU 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2180" y="1901952"/>
            <a:ext cx="347258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52180" y="1901952"/>
            <a:ext cx="3472586" cy="685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9924" y="2048256"/>
            <a:ext cx="2997098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Leverage, not offset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9924" y="2359152"/>
            <a:ext cx="2997098" cy="49377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1:5 multiplier: each tonne offset at home buys five abroad.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17520"/>
            <a:ext cx="11057839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What it takes to implement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91839"/>
            <a:ext cx="3472586" cy="19659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291839"/>
            <a:ext cx="68580" cy="1965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4672" y="3438144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3465575"/>
            <a:ext cx="2594762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mitigation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840479"/>
            <a:ext cx="2997098" cy="122636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What a credit is really worth: the seller's overachievement of its </a:t>
            </a:r>
            <a:r>
              <a:rPr sz="13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baseline</a:t>
            </a: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, divided by the credits it sold.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lang="fr-FR"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Ex: Country s</a:t>
            </a:r>
            <a:r>
              <a:rPr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ells </a:t>
            </a:r>
            <a:r>
              <a:rPr sz="125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5 ITMOs but emits only 3 units below baseline  →  value = 3/5 = 0.6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9554" y="3291839"/>
            <a:ext cx="3472586" cy="19659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59554" y="3291839"/>
            <a:ext cx="68580" cy="1965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97298" y="3438144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9634" y="3465575"/>
            <a:ext cx="2594762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Carbon Credits Clearing 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7298" y="3840479"/>
            <a:ext cx="2997098" cy="122636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Firms </a:t>
            </a:r>
            <a:r>
              <a:rPr sz="130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collateralise</a:t>
            </a: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foreign credits to borrow domestic allowances, so they can buy ITMOs before the 2040 compliance date.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At 1:5 leverage and value 0.6  →  5 / 0.6 = 8.33 </a:t>
            </a:r>
            <a:r>
              <a:rPr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ITMOs</a:t>
            </a:r>
            <a:r>
              <a:rPr lang="fr-FR"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250" b="1" i="1" dirty="0" err="1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needed</a:t>
            </a:r>
            <a:r>
              <a:rPr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per EU allowance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2180" y="3291839"/>
            <a:ext cx="3472586" cy="19659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52180" y="3291839"/>
            <a:ext cx="68580" cy="1965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89924" y="3438144"/>
            <a:ext cx="310896" cy="310896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2260" y="3465575"/>
            <a:ext cx="2594762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Carbon Buyers' Club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9924" y="3840479"/>
            <a:ext cx="2997098" cy="122636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Participating countries coordinate </a:t>
            </a:r>
            <a:r>
              <a:rPr sz="13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compliance </a:t>
            </a:r>
            <a:r>
              <a:rPr sz="13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standards and fix each seller's baseline.</a:t>
            </a:r>
          </a:p>
          <a:p>
            <a:pPr algn="l">
              <a:lnSpc>
                <a:spcPct val="118000"/>
              </a:lnSpc>
              <a:spcBef>
                <a:spcPts val="500"/>
              </a:spcBef>
            </a:pPr>
            <a:r>
              <a:rPr sz="125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e.g. </a:t>
            </a:r>
            <a:r>
              <a:rPr lang="fr-FR" sz="1250" b="1" i="1" dirty="0" err="1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baseline</a:t>
            </a:r>
            <a:r>
              <a:rPr lang="fr-FR"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 set </a:t>
            </a:r>
            <a:r>
              <a:rPr sz="1250" b="1" i="1" dirty="0" smtClean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by </a:t>
            </a:r>
            <a:r>
              <a:rPr sz="1250" b="1" i="1" dirty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equal per capita, or by historical responsibility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94959"/>
            <a:ext cx="3931920" cy="777240"/>
          </a:xfrm>
          <a:prstGeom prst="roundRect">
            <a:avLst>
              <a:gd name="adj" fmla="val 6000"/>
            </a:avLst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lnSpc>
                <a:spcPct val="122000"/>
              </a:lnSpc>
            </a:pPr>
            <a:r>
              <a:rPr lang="fr-FR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Would</a:t>
            </a:r>
            <a:r>
              <a:rPr lang="fr-FR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allow</a:t>
            </a:r>
            <a:r>
              <a:rPr lang="fr-FR" b="1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smtClean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 </a:t>
            </a: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Gt of net mitigation</a:t>
            </a:r>
          </a:p>
          <a:p>
            <a:pPr algn="ctr">
              <a:lnSpc>
                <a:spcPct val="122000"/>
              </a:lnSpc>
            </a:pPr>
            <a:r>
              <a:rPr sz="1250" b="0" i="0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≈ a fifth of the global emissions gap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3168" y="5394959"/>
            <a:ext cx="6851599" cy="77724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>
              <a:lnSpc>
                <a:spcPct val="122000"/>
              </a:lnSpc>
            </a:pPr>
            <a:r>
              <a:rPr sz="13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Right diagnosis: Article 6 as a lever for extra mitigation, not cost containment.</a:t>
            </a:r>
          </a:p>
          <a:p>
            <a:pPr algn="ctr">
              <a:lnSpc>
                <a:spcPct val="122000"/>
              </a:lnSpc>
            </a:pPr>
            <a:r>
              <a:rPr sz="13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And their Buyers' Club is a close cousin of the coalition proposed here.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Differentiated carbon price floors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26161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Parry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, Black, </a:t>
            </a:r>
            <a:r>
              <a:rPr lang="fr-FR" sz="1700" b="0" i="1" dirty="0" err="1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Roaf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(IMF, 2021)</a:t>
            </a: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; </a:t>
            </a:r>
            <a:r>
              <a:rPr sz="17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Wolfram et al</a:t>
            </a:r>
            <a:r>
              <a:rPr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fr-FR" sz="17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(2025)</a:t>
            </a:r>
            <a:endParaRPr sz="1700" b="0" i="1" dirty="0">
              <a:solidFill>
                <a:srgbClr val="6B7A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1057839" cy="31854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Every country prices </a:t>
            </a:r>
            <a:r>
              <a:rPr lang="fr-FR" sz="18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industrial</a:t>
            </a:r>
            <a:r>
              <a:rPr lang="fr-FR"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carbon </a:t>
            </a:r>
            <a:r>
              <a:rPr sz="18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nationally and keeps the revenue. Minimum prices vary by income level: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7" y="2221992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256032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$75 /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43784"/>
            <a:ext cx="256032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high-income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1608" y="2221992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331720"/>
            <a:ext cx="256032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$50 /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843784"/>
            <a:ext cx="256032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upper-middle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2221992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2331720"/>
            <a:ext cx="256032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$25 /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43784"/>
            <a:ext cx="256032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lower-income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191893"/>
            <a:ext cx="2005279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Wolfram et al. narrow this to steel, cement and </a:t>
            </a:r>
            <a:r>
              <a:rPr sz="1400" b="0" i="0" dirty="0" err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aluminium</a:t>
            </a:r>
            <a:r>
              <a:rPr sz="1400" b="0" i="0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, with a coalition-wide border tax at $75.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10712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The problems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913632"/>
            <a:ext cx="118872" cy="118872"/>
          </a:xfrm>
          <a:prstGeom prst="ellipse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813048"/>
            <a:ext cx="107469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barely moves the needle: </a:t>
            </a: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global CO₂ falls by about 2%</a:t>
            </a: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4339590"/>
            <a:ext cx="118872" cy="118872"/>
          </a:xfrm>
          <a:prstGeom prst="ellipse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239006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asks the EU to drop its border adjustment in exchange for China pricing manufacturing — yet China is ~70% of covered emissions and will not accept $50/t.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5063490"/>
            <a:ext cx="118872" cy="118872"/>
          </a:xfrm>
          <a:prstGeom prst="ellipse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4962906"/>
            <a:ext cx="10746943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Almost no North–South transfer, and no gains from trade, because prices deliberately differ.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407152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FAF2DF"/>
          </a:solidFill>
          <a:ln w="22225">
            <a:solidFill>
              <a:srgbClr val="B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35000"/>
              </a:lnSpc>
            </a:pP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Deeper point: 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distributive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effects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of 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differentiated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prices can be replicated by a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uniform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price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suitable allocation of emission rights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Same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winners and losers, without the efficiency loss — so rejecting </a:t>
            </a:r>
            <a:r>
              <a:rPr lang="fr-FR" sz="16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monetary</a:t>
            </a:r>
            <a:r>
              <a:rPr lang="fr-FR"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transfers </a:t>
            </a:r>
            <a:r>
              <a:rPr sz="16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is a costlier route to the same place.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Uniform price with transfers, 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or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climate </a:t>
            </a:r>
            <a:r>
              <a:rPr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clubs</a:t>
            </a:r>
            <a:r>
              <a:rPr lang="fr-FR" sz="32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fr-FR" sz="3200" b="1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implausible</a:t>
            </a:r>
            <a:r>
              <a:rPr lang="fr-FR" sz="3200" b="1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3200" b="1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ideals</a:t>
            </a:r>
            <a:endParaRPr sz="3200" b="1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5323179" cy="3566160"/>
          </a:xfrm>
          <a:prstGeom prst="roundRect">
            <a:avLst>
              <a:gd name="adj" fmla="val 6000"/>
            </a:avLst>
          </a:prstGeom>
          <a:solidFill>
            <a:srgbClr val="E1F0EF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27632"/>
            <a:ext cx="46830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Global cap-and-trade with revenue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4683099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One price, one cap, and the revenue shared internationally on a roughly equal-per-capita basis. Proposed in many forms since 1990.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46120"/>
            <a:ext cx="468309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84448"/>
            <a:ext cx="4683099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Guarantees the total. Prices firms directly rather than trusting governments to legislate.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251960"/>
            <a:ext cx="468309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Obstacle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72000"/>
            <a:ext cx="4683099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Governments fear the loss of sovereignty.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417320"/>
            <a:ext cx="5323179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2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1627" y="1627632"/>
            <a:ext cx="468309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Climate clubs and refunding clubs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1627" y="2176272"/>
            <a:ext cx="4683099" cy="10972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Reward countries that price carbon above a benchmark or emit below average; punish those that don't, with tariffs or forfeited refunds.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1627" y="3246120"/>
            <a:ext cx="4683099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1627" y="3563346"/>
            <a:ext cx="4683099" cy="132100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Rewards can flow to wealthy low-emitters such as Norway. Enforcement depends on </a:t>
            </a:r>
            <a:r>
              <a:rPr lang="fr-FR" sz="145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punishing</a:t>
            </a:r>
            <a:r>
              <a:rPr lang="fr-FR"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countries </a:t>
            </a: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agreeing to be </a:t>
            </a:r>
            <a:r>
              <a:rPr sz="145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penalised</a:t>
            </a: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. </a:t>
            </a:r>
            <a:endParaRPr lang="fr-FR" sz="1450" b="0" i="0" dirty="0" smtClean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20000"/>
              </a:lnSpc>
            </a:pPr>
            <a:r>
              <a:rPr sz="145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Refunding </a:t>
            </a:r>
            <a:r>
              <a:rPr sz="145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clubs need an up-front fund estimated at $2.6 trillion — 0.3% of world GDP over a decade.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3036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7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proposal in this talk aims at the same efficiency and fairness as a redistributive cap-and-trade, while leaving each country free to choose its own policies.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Fossil fuel non-proliferation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most popular alternative — and, I argue, the weakest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1057839" cy="62786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A campaign backed by a million individuals, four thousand </a:t>
            </a:r>
            <a:r>
              <a:rPr sz="1700" b="0" i="0" dirty="0" err="1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organisations</a:t>
            </a:r>
            <a:r>
              <a:rPr sz="1700" b="0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and 101 Nobel laureates, calling for a binding plan to end coal, oil and gas expansion. The associated “Fair Shares Phase Out” sets country-specific end 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dates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for </a:t>
            </a:r>
            <a:r>
              <a:rPr lang="fr-FR" sz="1700" b="0" i="0" dirty="0" err="1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oil</a:t>
            </a:r>
            <a:r>
              <a:rPr lang="fr-FR"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 extraction</a:t>
            </a:r>
            <a:r>
              <a:rPr sz="1700" b="0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:</a:t>
            </a:r>
            <a:endParaRPr sz="1700" b="0" i="0" dirty="0">
              <a:solidFill>
                <a:srgbClr val="1124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542032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633472"/>
            <a:ext cx="25603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07792"/>
            <a:ext cx="25603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2542032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2633472"/>
            <a:ext cx="25603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Russia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907792"/>
            <a:ext cx="25603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2037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542032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2633472"/>
            <a:ext cx="25603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Saudi Arabia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907792"/>
            <a:ext cx="25603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7" y="2542032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33687" y="2633472"/>
            <a:ext cx="2560320" cy="320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Iraq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7" y="2907792"/>
            <a:ext cx="256032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2050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02152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502152"/>
            <a:ext cx="68580" cy="749808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5538" y="3703320"/>
            <a:ext cx="4023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dirty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It needs exactly the wrong people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575304"/>
            <a:ext cx="6120079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 requires fossil fuel exporters to act — the countries least likely 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25112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325112"/>
            <a:ext cx="68580" cy="749808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572000"/>
            <a:ext cx="4023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It enriches resource 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4398264"/>
            <a:ext cx="6120079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Cutting supply rather than demand raises fossil rents and generates no revenue to compensate low-income consumers for higher prices.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48072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FB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5148072"/>
            <a:ext cx="68580" cy="749808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5349240"/>
            <a:ext cx="402336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dirty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It puts extraction in the wrong places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5221224"/>
            <a:ext cx="6120079" cy="6400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Cheap oil from Qatar would be phased out 13 years before dirtier oil from Venezuela.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07608"/>
            <a:ext cx="11057839" cy="2308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 producer-side carbon tax fixes </a:t>
            </a:r>
            <a:r>
              <a:rPr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</a:t>
            </a:r>
            <a:r>
              <a:rPr lang="fr-FR"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latter</a:t>
            </a:r>
            <a:r>
              <a:rPr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50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efficiency</a:t>
            </a:r>
            <a:r>
              <a:rPr lang="fr-FR"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)</a:t>
            </a:r>
            <a:r>
              <a:rPr sz="1500" b="0" i="1" dirty="0" smtClean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1" dirty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problem — but not the other two.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The alternatives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Everything on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11057839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Simplified from the paper's full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49377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International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719072"/>
            <a:ext cx="15087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Cuts</a:t>
            </a:r>
          </a:p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719072"/>
            <a:ext cx="15087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Least</a:t>
            </a:r>
          </a:p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719072"/>
            <a:ext cx="178308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Fair to</a:t>
            </a:r>
          </a:p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low-income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1047" y="1719072"/>
            <a:ext cx="178308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Politically</a:t>
            </a:r>
          </a:p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acceptable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286000"/>
            <a:ext cx="11057839" cy="0"/>
          </a:xfrm>
          <a:prstGeom prst="line">
            <a:avLst/>
          </a:prstGeom>
          <a:ln w="22225">
            <a:solidFill>
              <a:srgbClr val="11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404872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Unregulated ITMOs  (status quo)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395728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7" y="2395728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395728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1047" y="2395728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756916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ITMOs + country-level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747772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2747772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747772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1047" y="2747772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54096"/>
            <a:ext cx="11277295" cy="365760"/>
          </a:xfrm>
          <a:prstGeom prst="rect">
            <a:avLst/>
          </a:prstGeom>
          <a:solidFill>
            <a:srgbClr val="E1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108960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ITMOs avoiding the ambition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3099816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7" y="3099816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3099816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71047" y="3099816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461003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JETPs  (status quo)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3451860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7" y="3451860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3451860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71047" y="3451860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13048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JETPs with grants and wider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803903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7" y="3803903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3803903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71047" y="3803903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165091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Differentiated price floors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128" y="4155947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6327" y="4155947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4155947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1047" y="4155947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517136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Climate club / refunding club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6128" y="4507991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6327" y="4507991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4507991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71047" y="4507991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869179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Global cap-and-trade with transfers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6128" y="4860035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6327" y="4860035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4860035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1047" y="4860035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221223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Fossil fuel non-proliferation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96128" y="5212079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7" y="5212079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528" y="5212079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71047" y="5212079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532C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573267"/>
            <a:ext cx="4937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Expansion of climate finance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5564123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6327" y="5564123"/>
            <a:ext cx="15087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6528" y="5564123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71047" y="5564123"/>
            <a:ext cx="178308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+++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025895"/>
            <a:ext cx="11057839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+++ strong, 0 neutral, − negative.  The paper's full table scores nine criteria across nineteen policies, including acceptability to oil states.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40280"/>
            <a:ext cx="2743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601200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601200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What follows from all this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0135" y="6419088"/>
            <a:ext cx="6400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68580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12700">
            <a:solidFill>
              <a:srgbClr val="E2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Five things to take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05156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517904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463040"/>
            <a:ext cx="104241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problem is not cheating, it is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847088"/>
            <a:ext cx="104241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Even under perfect compliance, the pledges add up to 2.6°C. That is a design failure, not an enforcement failure.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450592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395728"/>
            <a:ext cx="104241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Carbon trading is a good idea attached to a broken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779776"/>
            <a:ext cx="104241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Trade allocates a fixed effort efficiently. When the total effort is wrong, trade spreads the laxity instead of the ambition.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38328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328416"/>
            <a:ext cx="104241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Some rules cost almost nothing and should be adopted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712464"/>
            <a:ext cx="104241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Harmonize pledges; never buy from a country that is missing its own target. Neither requires a coalition or a new treaty.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315968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261104"/>
            <a:ext cx="10424160" cy="2923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Only a joint pledge </a:t>
            </a:r>
            <a:r>
              <a:rPr lang="fr-FR" sz="1900" b="1" i="0" dirty="0" smtClean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fixes the issue</a:t>
            </a:r>
            <a:endParaRPr sz="1900" b="1" i="0" dirty="0">
              <a:solidFill>
                <a:srgbClr val="0E7C7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16736" y="4645152"/>
            <a:ext cx="104241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Judging ambition country by country is unfair and ineffective. Move the unit of assessment to a coalition.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5248655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5193792"/>
            <a:ext cx="104241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1243A"/>
                </a:solidFill>
                <a:latin typeface="Calibri"/>
                <a:ea typeface="Calibri"/>
                <a:cs typeface="Calibri"/>
              </a:rPr>
              <a:t>The alternatives are worse, with one 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5577840"/>
            <a:ext cx="1042416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A8F"/>
                </a:solidFill>
                <a:latin typeface="Calibri"/>
                <a:ea typeface="Calibri"/>
                <a:cs typeface="Calibri"/>
              </a:rPr>
              <a:t>Price floors, clubs and non-proliferation lack efficiency, fairness or realism. Expanded JETPs are the exception.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5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10241280" cy="14630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Carbon trading will happen either way.</a:t>
            </a:r>
          </a:p>
          <a:p>
            <a:pPr algn="l">
              <a:lnSpc>
                <a:spcPct val="128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only question is whether a credible ceiling binds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37560"/>
            <a:ext cx="146304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A tightly regulated ITMO coalition, plus ambitiously expanded Just Energy Transition Partnerships,</a:t>
            </a:r>
          </a:p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is a viable pathway to international decarbonization.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18304"/>
            <a:ext cx="5486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30368"/>
            <a:ext cx="777240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Adrien Fabre  ·  CNRS, CIRED  ·  adrien.fabre@cnrs.fr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163056"/>
            <a:ext cx="8686800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1400" dirty="0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More </a:t>
            </a:r>
            <a:r>
              <a:rPr lang="fr-FR" sz="1400" dirty="0" err="1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complete</a:t>
            </a:r>
            <a:r>
              <a:rPr lang="fr-FR" sz="1400" dirty="0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 p</a:t>
            </a:r>
            <a:r>
              <a:rPr sz="1400" b="0" i="0" dirty="0" smtClean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reprint</a:t>
            </a:r>
            <a:r>
              <a:rPr sz="1400" b="0" i="0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: github.com/</a:t>
            </a:r>
            <a:r>
              <a:rPr sz="1400" b="0" i="0" dirty="0" err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bixiou</a:t>
            </a:r>
            <a:r>
              <a:rPr sz="1400" b="0" i="0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/</a:t>
            </a:r>
            <a:r>
              <a:rPr sz="1400" b="0" i="0" dirty="0" err="1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global_tax_attitudes</a:t>
            </a:r>
            <a:r>
              <a:rPr sz="1400" b="0" i="0" dirty="0">
                <a:solidFill>
                  <a:srgbClr val="A9BCCF"/>
                </a:solidFill>
                <a:latin typeface="Calibri"/>
                <a:ea typeface="Calibri"/>
                <a:cs typeface="Calibri"/>
              </a:rPr>
              <a:t> → paper/itmo_rules.pdf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100584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Published in </a:t>
            </a:r>
            <a:r>
              <a:rPr sz="15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Global Environmental Change</a:t>
            </a:r>
            <a:r>
              <a:rPr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704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sciencedirect.com/science/article/pii/S0959378026001068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12209</Words>
  <Application>Microsoft Office PowerPoint</Application>
  <PresentationFormat>Grand écran</PresentationFormat>
  <Paragraphs>1250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fabre</cp:lastModifiedBy>
  <cp:revision>19</cp:revision>
  <dcterms:created xsi:type="dcterms:W3CDTF">2013-01-27T09:14:16Z</dcterms:created>
  <dcterms:modified xsi:type="dcterms:W3CDTF">2026-10-09T08:48:02Z</dcterms:modified>
  <cp:category/>
</cp:coreProperties>
</file>